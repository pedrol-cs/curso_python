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bril Fatface" charset="1" panose="02000503000000020003"/>
      <p:regular r:id="rId18"/>
    </p:embeddedFont>
    <p:embeddedFont>
      <p:font typeface="Merriweather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64294" y="2906886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9284" y="536638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269321" y="7123585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925742" y="949383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644447" y="7027759"/>
            <a:ext cx="2753631" cy="2723591"/>
          </a:xfrm>
          <a:custGeom>
            <a:avLst/>
            <a:gdLst/>
            <a:ahLst/>
            <a:cxnLst/>
            <a:rect r="r" b="b" t="t" l="l"/>
            <a:pathLst>
              <a:path h="2723591" w="275363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49533" y="1546031"/>
            <a:ext cx="12163898" cy="578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PYTHON PARA CIÊNCIA DE DADOS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84897" y="8103831"/>
            <a:ext cx="10118206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Módulo 1 - Fundamentos de Python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84888" y="9153907"/>
            <a:ext cx="11744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2197" y="1481825"/>
            <a:ext cx="10383605" cy="20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 INTRODUÇÃO E AMBIENTE DE TRABALHO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1159" y="4168245"/>
            <a:ext cx="15105683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é uma linguagem de programação de alto nível, interpretada e de propósito geral. Seu design prioriza a legibilidade do código, utilizando uma sintaxe limpa que se assemelha muito à linguagem humana. É a linguagem ideal para iniciantes devido à sua curva de aprendizado amigável.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também é uma boa opção por conta de seu vasto ecossistema de bibliotecas especializadas, que são pacotes de código prontos que expandem os "poderes" da linguagem. Com Python, podemos usar o Pandas para manipular planilhas, o Matplotlib para desenhar gráficos e o Scikit-Learn para criar inteligência artificial.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84888" y="9153907"/>
            <a:ext cx="1174412" cy="104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2197" y="1481825"/>
            <a:ext cx="10383605" cy="20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 INTRODUÇÃO E AMBIENTE DE TRABALHO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90117" y="4527525"/>
            <a:ext cx="13507765" cy="351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Nosso ambiente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 Google Colab (Colaboratory) é um ambiente de desenvolvimento em nuvem gratuito oferecido pelo Google. Ele permite escrever e executar código Python diretamente no navegador, sem a necessidade de instalar programas no computador. Ele funciona no formato de "Notebooks", permitindo mesclar blocos de texto explicativo e blocos de código executável no mesmo documento, o que é perfeito para o ensino e para a análise de dados.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84178" y="1378150"/>
            <a:ext cx="9519644" cy="20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PRIMEIROS PASSOS COM O CÓDIGO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084888" y="9153907"/>
            <a:ext cx="1174412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68922" y="4104437"/>
            <a:ext cx="5766671" cy="407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Comandos de Saída: A função print()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ara que o computador mostre um resultado ou uma mensagem na tela, utilizamos a função print(). O texto que desejamos exibir deve ser colocado dentro dos parênteses e entre aspas.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52407" y="4104437"/>
            <a:ext cx="5766671" cy="457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Comandos de Entrada: A função input()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Qu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ando precisamos que o usuário digite alguma informação, usamos a função input(). O programa pausa a execução e espera que o usuário digite algo no teclado e pressione Enter.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84888" y="9153907"/>
            <a:ext cx="1174412" cy="104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04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2197" y="1481825"/>
            <a:ext cx="10383605" cy="20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VARIÁVEIS E TIPOS DE DADOS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90117" y="4527525"/>
            <a:ext cx="13507765" cy="351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 que são variáveis?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Variáv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eis são espaços reservados na memória do computador onde armazenamos informações que serão usadas pelo nosso programa. Pense nelas como caixas etiquetadas onde você guarda um valor. O Python é uma linguagem de tipagem dinâmica, o que significa que ele descobre automaticamente o tipo de dado que você guardou na caixa. Existem 4 tipos mais importante de dados.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84888" y="9153907"/>
            <a:ext cx="1174412" cy="104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05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2197" y="1481825"/>
            <a:ext cx="10383605" cy="20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VARIÁVEIS E TIPOS DE DADOS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90117" y="3670572"/>
            <a:ext cx="13507765" cy="521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AutoNum type="arabicPeriod" startAt="1"/>
            </a:pPr>
            <a:r>
              <a:rPr lang="en-US" sz="27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Inteiros (int): Números inteiros, positivos ou negativos, sem casas decimais. Exemplo: idade = 25</a:t>
            </a:r>
          </a:p>
          <a:p>
            <a:pPr algn="l" marL="582930" indent="-291465" lvl="1">
              <a:lnSpc>
                <a:spcPts val="3779"/>
              </a:lnSpc>
              <a:buAutoNum type="arabicPeriod" startAt="1"/>
            </a:pPr>
            <a:r>
              <a:rPr lang="en-US" sz="27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Decimais (float): Números de ponto flutuante, ou seja, com casas decimais. Na programação, utilizamos o padrão americano, separando as casas decimais com ponto (.) e não com vírgula. Exemplo: altura = 1.75</a:t>
            </a:r>
          </a:p>
          <a:p>
            <a:pPr algn="l" marL="582930" indent="-291465" lvl="1">
              <a:lnSpc>
                <a:spcPts val="3779"/>
              </a:lnSpc>
              <a:buAutoNum type="arabicPeriod" startAt="1"/>
            </a:pPr>
            <a:r>
              <a:rPr lang="en-US" sz="27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Textos (str): Chamados de "Strings", representam qualquer sequência de caracteres, como palavras ou frases. Devem estar sempre envolvidos por aspas simples ou duplas. Exemplo: cidade = "Fortaleza"</a:t>
            </a:r>
          </a:p>
          <a:p>
            <a:pPr algn="l" marL="582930" indent="-291465" lvl="1">
              <a:lnSpc>
                <a:spcPts val="3779"/>
              </a:lnSpc>
              <a:buAutoNum type="arabicPeriod" startAt="1"/>
            </a:pPr>
            <a:r>
              <a:rPr lang="en-US" sz="27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Booleanos (bool): Representam valores lógicos de verdadeiro ou falso. Em Python, são escritos com a primeira letra maiúscula: True ou False. Exemplo: possui_cadastro = True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84888" y="9153907"/>
            <a:ext cx="1174412" cy="104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06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2197" y="1481825"/>
            <a:ext cx="10383605" cy="20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ESTRUTURAS DE CONTROLE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68922" y="4104437"/>
            <a:ext cx="5766671" cy="450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Tomada de Decisão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Estrutur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as condicionais permitem que o programa avalie uma situação e escolha qual bloco de código executar. Isso dá "inteligência" ao programa, permitindo que ele reaja de forma diferente dependendo dos dados que recebe.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64393" y="4104437"/>
            <a:ext cx="6142906" cy="450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Operadores racionais e lógicos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Par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 criar condições, comparamos valores usando operadores relacionais: Maior (&gt;), Menor (&lt;), Maior ou igual (&gt;=), Menor ou igual (&lt;=), Igualdade (==) e Diferença (!=). Também podemos juntar condições usando "and" (E lógico) e "or" (OU lógico).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84888" y="9153907"/>
            <a:ext cx="1174412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07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2197" y="1481825"/>
            <a:ext cx="10383605" cy="20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ESTRUTURAS DE CONTROLE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68922" y="4104437"/>
            <a:ext cx="12989388" cy="351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As Palavras-Chave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if (Se): A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condição principal. Se for verdadeira, o código logo abaixo dela é executado.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elif (Se não, se): Usada para testar condições alternativas caso o "if" inicial seja falso. Você pode usar quantos elifs quiser.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else (Se não): É o último recurso. Executa seu bloco de código caso todas as condições anteriores (if e elifs) sejam falsas.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84888" y="9153907"/>
            <a:ext cx="1174412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2197" y="1481825"/>
            <a:ext cx="10383605" cy="20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ESTRUTURAS DE REPETIÇÃO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68922" y="4104437"/>
            <a:ext cx="12989388" cy="49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Os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loops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(laços de repetição) são estruturas que mandam o computador executar o mesmo bloco de código várias vezes. Isso evita a necessidade de copiar e colar o mesmo código repetidas vezes, economizando tempo e processamento.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Loop for (Para) É utilizado quando sabemos antecipadamente quantas vezes o código deve repetir, ou quando precisamos percorrer todos os itens de uma coleção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Loop while (Enquanto) É utilizado quando não sabemos o número exato de repetições, mas sabemos que o código deve continuar rodando enquanto uma condição for verdadeira.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84888" y="9153907"/>
            <a:ext cx="1174412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09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2197" y="1481825"/>
            <a:ext cx="10383605" cy="1028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ESTRUTURAS DE DADOS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68922" y="4104437"/>
            <a:ext cx="12989388" cy="394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Até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agora, guardamos apenas um valor por variável. Em Ciência de Dados, trabalhamos com milhares de informações. Para isso, usamos estruturas de dados capazes de agrupar múltiplos valores.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Listas [ ]: Sequências ordenadas e mutáveis.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 Exemplo: notas_turma = [8.0, 9.5, 7.0] 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icionários { }: Pares de Chave e Valor para organizar dados descritivos.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      Exemplo: aluno = {"nome": "Carlos", "curso": "Física"}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7774" y="8764908"/>
            <a:ext cx="1061526" cy="3044184"/>
            <a:chOff x="0" y="0"/>
            <a:chExt cx="279579" cy="801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579" cy="801760"/>
            </a:xfrm>
            <a:custGeom>
              <a:avLst/>
              <a:gdLst/>
              <a:ahLst/>
              <a:cxnLst/>
              <a:rect r="r" b="b" t="t" l="l"/>
              <a:pathLst>
                <a:path h="801760" w="279579">
                  <a:moveTo>
                    <a:pt x="139789" y="0"/>
                  </a:moveTo>
                  <a:lnTo>
                    <a:pt x="139789" y="0"/>
                  </a:lnTo>
                  <a:cubicBezTo>
                    <a:pt x="216993" y="0"/>
                    <a:pt x="279579" y="62586"/>
                    <a:pt x="279579" y="139789"/>
                  </a:cubicBezTo>
                  <a:lnTo>
                    <a:pt x="279579" y="661971"/>
                  </a:lnTo>
                  <a:cubicBezTo>
                    <a:pt x="279579" y="739175"/>
                    <a:pt x="216993" y="801760"/>
                    <a:pt x="139789" y="801760"/>
                  </a:cubicBezTo>
                  <a:lnTo>
                    <a:pt x="139789" y="801760"/>
                  </a:lnTo>
                  <a:cubicBezTo>
                    <a:pt x="62586" y="801760"/>
                    <a:pt x="0" y="739175"/>
                    <a:pt x="0" y="661971"/>
                  </a:cubicBezTo>
                  <a:lnTo>
                    <a:pt x="0" y="139789"/>
                  </a:lnTo>
                  <a:cubicBezTo>
                    <a:pt x="0" y="62586"/>
                    <a:pt x="62586" y="0"/>
                    <a:pt x="139789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579" cy="83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476287" y="550875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84888" y="9153907"/>
            <a:ext cx="1174412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10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95705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1294784" y="7594275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8" y="0"/>
                </a:lnTo>
                <a:lnTo>
                  <a:pt x="3580978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54979" y="536003"/>
            <a:ext cx="2726522" cy="2696778"/>
          </a:xfrm>
          <a:custGeom>
            <a:avLst/>
            <a:gdLst/>
            <a:ahLst/>
            <a:cxnLst/>
            <a:rect r="r" b="b" t="t" l="l"/>
            <a:pathLst>
              <a:path h="2696778" w="2726522">
                <a:moveTo>
                  <a:pt x="0" y="0"/>
                </a:moveTo>
                <a:lnTo>
                  <a:pt x="2726522" y="0"/>
                </a:lnTo>
                <a:lnTo>
                  <a:pt x="2726522" y="2696778"/>
                </a:lnTo>
                <a:lnTo>
                  <a:pt x="0" y="269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52197" y="1481825"/>
            <a:ext cx="10383605" cy="20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BOAS PRÁTICAS E QUALIDADE DE CÓDIGO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2626322" y="9364617"/>
            <a:ext cx="3580978" cy="296130"/>
          </a:xfrm>
          <a:custGeom>
            <a:avLst/>
            <a:gdLst/>
            <a:ahLst/>
            <a:cxnLst/>
            <a:rect r="r" b="b" t="t" l="l"/>
            <a:pathLst>
              <a:path h="296130" w="3580978">
                <a:moveTo>
                  <a:pt x="0" y="0"/>
                </a:moveTo>
                <a:lnTo>
                  <a:pt x="3580977" y="0"/>
                </a:lnTo>
                <a:lnTo>
                  <a:pt x="3580977" y="296130"/>
                </a:lnTo>
                <a:lnTo>
                  <a:pt x="0" y="296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60420" y="3823672"/>
            <a:ext cx="13367160" cy="543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Na</a:t>
            </a: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 programação do mundo real, um código é lido com muito mais frequência do que é escrito. Escrever um código que funcione não é suficiente; ele precisa ser compreensível para os seus colegas de equipe e para você mesmo no futuro. Use nomes de variável descritivos e não ambíguos.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O Python possui um documento oficial chamado PEP 8, que define o padrão de formatação que todo programador deve seguir. Suas regras incluem a forma correta de dar espaços, espaçamentos entre linhas e uso de caracteres. Para nomear variáveis compostas por mais de uma palavra em Python, utilizamos apenas letras minúsculas e separamos as palavras utilizando o underline ( _ ), o padrão Snake Case.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64294" y="2906886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9284" y="536638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269321" y="7123585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925742" y="949383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644447" y="7027759"/>
            <a:ext cx="2753631" cy="2723591"/>
          </a:xfrm>
          <a:custGeom>
            <a:avLst/>
            <a:gdLst/>
            <a:ahLst/>
            <a:cxnLst/>
            <a:rect r="r" b="b" t="t" l="l"/>
            <a:pathLst>
              <a:path h="2723591" w="275363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32093" y="3260726"/>
            <a:ext cx="12023813" cy="188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11000">
                <a:solidFill>
                  <a:srgbClr val="353534"/>
                </a:solidFill>
                <a:latin typeface="Abril Fatface"/>
                <a:ea typeface="Abril Fatface"/>
                <a:cs typeface="Abril Fatface"/>
                <a:sym typeface="Abril Fatface"/>
              </a:rPr>
              <a:t>FIM DO MÓDULO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58970" y="5546106"/>
            <a:ext cx="8970060" cy="156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353534"/>
                </a:solidFill>
                <a:latin typeface="Merriweather"/>
                <a:ea typeface="Merriweather"/>
                <a:cs typeface="Merriweather"/>
                <a:sym typeface="Merriweather"/>
              </a:rPr>
              <a:t>Agora é a hora de fazer os exercícios!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DAHDxosL9lg</dc:identifier>
  <dcterms:modified xsi:type="dcterms:W3CDTF">2011-08-01T06:04:30Z</dcterms:modified>
  <cp:revision>1</cp:revision>
  <dc:title>Pyth===</dc:title>
</cp:coreProperties>
</file>
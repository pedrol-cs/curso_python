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bril Fatface" charset="1" panose="02000503000000020003"/>
      <p:regular r:id="rId17"/>
    </p:embeddedFont>
    <p:embeddedFont>
      <p:font typeface="Merriweather"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https://pandas.pydata.org" TargetMode="External" Type="http://schemas.openxmlformats.org/officeDocument/2006/relationships/hyperlink"/><Relationship Id="rId7" Target="https://hub.asimov.academy/blog/bibliotecas-python-manipulacao-e-analise-de-dados/"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64294" y="2906886"/>
            <a:ext cx="4740498" cy="392017"/>
          </a:xfrm>
          <a:custGeom>
            <a:avLst/>
            <a:gdLst/>
            <a:ahLst/>
            <a:cxnLst/>
            <a:rect r="r" b="b" t="t" l="l"/>
            <a:pathLst>
              <a:path h="392017" w="4740498">
                <a:moveTo>
                  <a:pt x="0" y="0"/>
                </a:moveTo>
                <a:lnTo>
                  <a:pt x="4740497" y="0"/>
                </a:lnTo>
                <a:lnTo>
                  <a:pt x="4740497"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9284" y="536638"/>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269321" y="7123585"/>
            <a:ext cx="4740498" cy="392017"/>
          </a:xfrm>
          <a:custGeom>
            <a:avLst/>
            <a:gdLst/>
            <a:ahLst/>
            <a:cxnLst/>
            <a:rect r="r" b="b" t="t" l="l"/>
            <a:pathLst>
              <a:path h="392017" w="4740498">
                <a:moveTo>
                  <a:pt x="0" y="0"/>
                </a:moveTo>
                <a:lnTo>
                  <a:pt x="4740498" y="0"/>
                </a:lnTo>
                <a:lnTo>
                  <a:pt x="4740498"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2925742" y="9493834"/>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844934" y="732646"/>
            <a:ext cx="2767824" cy="2737630"/>
          </a:xfrm>
          <a:custGeom>
            <a:avLst/>
            <a:gdLst/>
            <a:ahLst/>
            <a:cxnLst/>
            <a:rect r="r" b="b" t="t" l="l"/>
            <a:pathLst>
              <a:path h="2737630" w="2767824">
                <a:moveTo>
                  <a:pt x="0" y="0"/>
                </a:moveTo>
                <a:lnTo>
                  <a:pt x="2767824" y="0"/>
                </a:lnTo>
                <a:lnTo>
                  <a:pt x="2767824" y="2737630"/>
                </a:lnTo>
                <a:lnTo>
                  <a:pt x="0" y="2737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644447" y="7027759"/>
            <a:ext cx="2753631" cy="2723591"/>
          </a:xfrm>
          <a:custGeom>
            <a:avLst/>
            <a:gdLst/>
            <a:ahLst/>
            <a:cxnLst/>
            <a:rect r="r" b="b" t="t" l="l"/>
            <a:pathLst>
              <a:path h="2723591" w="2753631">
                <a:moveTo>
                  <a:pt x="0" y="0"/>
                </a:moveTo>
                <a:lnTo>
                  <a:pt x="2753630" y="0"/>
                </a:lnTo>
                <a:lnTo>
                  <a:pt x="2753630" y="2723591"/>
                </a:lnTo>
                <a:lnTo>
                  <a:pt x="0" y="2723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049533" y="1546031"/>
            <a:ext cx="12163898" cy="5788024"/>
          </a:xfrm>
          <a:prstGeom prst="rect">
            <a:avLst/>
          </a:prstGeom>
        </p:spPr>
        <p:txBody>
          <a:bodyPr anchor="t" rtlCol="false" tIns="0" lIns="0" bIns="0" rIns="0">
            <a:spAutoFit/>
          </a:bodyPr>
          <a:lstStyle/>
          <a:p>
            <a:pPr algn="ctr">
              <a:lnSpc>
                <a:spcPts val="15400"/>
              </a:lnSpc>
              <a:spcBef>
                <a:spcPct val="0"/>
              </a:spcBef>
            </a:pPr>
            <a:r>
              <a:rPr lang="en-US" sz="11000">
                <a:solidFill>
                  <a:srgbClr val="353534"/>
                </a:solidFill>
                <a:latin typeface="Abril Fatface"/>
                <a:ea typeface="Abril Fatface"/>
                <a:cs typeface="Abril Fatface"/>
                <a:sym typeface="Abril Fatface"/>
              </a:rPr>
              <a:t>PYTHON PARA CIÊNCIA DE DADOS</a:t>
            </a:r>
          </a:p>
        </p:txBody>
      </p:sp>
      <p:sp>
        <p:nvSpPr>
          <p:cNvPr name="TextBox 9" id="9"/>
          <p:cNvSpPr txBox="true"/>
          <p:nvPr/>
        </p:nvSpPr>
        <p:spPr>
          <a:xfrm rot="0">
            <a:off x="4084897" y="8103831"/>
            <a:ext cx="10118206"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Módulo 1 - Manipulação de Dados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350"/>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01</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312878"/>
            <a:ext cx="10383605" cy="1028727"/>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 INTRODUÇÃO AO PANDAS</a:t>
            </a:r>
          </a:p>
        </p:txBody>
      </p:sp>
      <p:sp>
        <p:nvSpPr>
          <p:cNvPr name="TextBox 11" id="11"/>
          <p:cNvSpPr txBox="true"/>
          <p:nvPr/>
        </p:nvSpPr>
        <p:spPr>
          <a:xfrm rot="0">
            <a:off x="1591159" y="2710635"/>
            <a:ext cx="15105683" cy="5929954"/>
          </a:xfrm>
          <a:prstGeom prst="rect">
            <a:avLst/>
          </a:prstGeom>
        </p:spPr>
        <p:txBody>
          <a:bodyPr anchor="t" rtlCol="false" tIns="0" lIns="0" bIns="0" rIns="0">
            <a:spAutoFit/>
          </a:bodyPr>
          <a:lstStyle/>
          <a:p>
            <a:pPr algn="just">
              <a:lnSpc>
                <a:spcPts val="3919"/>
              </a:lnSpc>
            </a:pPr>
            <a:r>
              <a:rPr lang="en-US" sz="2799">
                <a:solidFill>
                  <a:srgbClr val="353534"/>
                </a:solidFill>
                <a:latin typeface="Merriweather"/>
                <a:ea typeface="Merriweather"/>
                <a:cs typeface="Merriweather"/>
                <a:sym typeface="Merriweather"/>
                <a:hlinkClick r:id="rId6" tooltip="https://pandas.pydata.org"/>
              </a:rPr>
              <a:t>Pandas</a:t>
            </a:r>
            <a:r>
              <a:rPr lang="en-US" sz="2799">
                <a:solidFill>
                  <a:srgbClr val="353534"/>
                </a:solidFill>
                <a:latin typeface="Merriweather"/>
                <a:ea typeface="Merriweather"/>
                <a:cs typeface="Merriweather"/>
                <a:sym typeface="Merriweather"/>
              </a:rPr>
              <a:t> é uma </a:t>
            </a:r>
            <a:r>
              <a:rPr lang="en-US" sz="2799">
                <a:solidFill>
                  <a:srgbClr val="353534"/>
                </a:solidFill>
                <a:latin typeface="Merriweather"/>
                <a:ea typeface="Merriweather"/>
                <a:cs typeface="Merriweather"/>
                <a:sym typeface="Merriweather"/>
                <a:hlinkClick r:id="rId7" tooltip="https://hub.asimov.academy/blog/bibliotecas-python-manipulacao-e-analise-de-dados/"/>
              </a:rPr>
              <a:t>biblioteca de manipulação e análise de dados em Python</a:t>
            </a:r>
            <a:r>
              <a:rPr lang="en-US" sz="2799">
                <a:solidFill>
                  <a:srgbClr val="353534"/>
                </a:solidFill>
                <a:latin typeface="Merriweather"/>
                <a:ea typeface="Merriweather"/>
                <a:cs typeface="Merriweather"/>
                <a:sym typeface="Merriweather"/>
              </a:rPr>
              <a:t>. Ela permite que você trabalhe com dados de forma eficiente e intuitiva, similar ao que você faria no Excel, mas com muito mais flexibilidade e poder. Pandas é usado para analisar e manipular dados em tabelas, como aqueles que você encontra em planilhas ou bancos de dados, facilitando a exploração, limpeza e processamento de dados. Pandas é ideal para manipular e analisar dados e tabelas por meio de tarefas como: </a:t>
            </a:r>
          </a:p>
          <a:p>
            <a:pPr algn="l" marL="604519" indent="-302260" lvl="1">
              <a:lnSpc>
                <a:spcPts val="3919"/>
              </a:lnSpc>
              <a:buFont typeface="Arial"/>
              <a:buChar char="•"/>
            </a:pPr>
            <a:r>
              <a:rPr lang="en-US" sz="2799">
                <a:solidFill>
                  <a:srgbClr val="353534"/>
                </a:solidFill>
                <a:latin typeface="Merriweather"/>
                <a:ea typeface="Merriweather"/>
                <a:cs typeface="Merriweather"/>
                <a:sym typeface="Merriweather"/>
              </a:rPr>
              <a:t>Leitura e escrita de dados: Pandas pode ler dados de diversos formatos, como CSV, Excel, JSON, SQL, entre outros.</a:t>
            </a:r>
          </a:p>
          <a:p>
            <a:pPr algn="just" marL="604519" indent="-302260" lvl="1">
              <a:lnSpc>
                <a:spcPts val="3919"/>
              </a:lnSpc>
              <a:buFont typeface="Arial"/>
              <a:buChar char="•"/>
            </a:pPr>
            <a:r>
              <a:rPr lang="en-US" sz="2799">
                <a:solidFill>
                  <a:srgbClr val="353534"/>
                </a:solidFill>
                <a:latin typeface="Merriweather"/>
                <a:ea typeface="Merriweather"/>
                <a:cs typeface="Merriweather"/>
                <a:sym typeface="Merriweather"/>
              </a:rPr>
              <a:t>Limpeza de dados: Pandas oferece diversas funções para tratar dados ausentes, duplicados e inconsistentes.</a:t>
            </a:r>
          </a:p>
          <a:p>
            <a:pPr algn="just" marL="604519" indent="-302260" lvl="1">
              <a:lnSpc>
                <a:spcPts val="3919"/>
              </a:lnSpc>
              <a:buFont typeface="Arial"/>
              <a:buChar char="•"/>
            </a:pPr>
            <a:r>
              <a:rPr lang="en-US" sz="2799">
                <a:solidFill>
                  <a:srgbClr val="353534"/>
                </a:solidFill>
                <a:latin typeface="Merriweather"/>
                <a:ea typeface="Merriweather"/>
                <a:cs typeface="Merriweather"/>
                <a:sym typeface="Merriweather"/>
              </a:rPr>
              <a:t>Análise exploratória de dados: Pandas facilita a análise exploratória de dados, permitindo agrupar, filtrar e resumir dados de forma eficiente.</a:t>
            </a:r>
          </a:p>
        </p:txBody>
      </p:sp>
      <p:sp>
        <p:nvSpPr>
          <p:cNvPr name="Freeform 12" id="12"/>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02</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523430"/>
            <a:ext cx="10383605" cy="1028727"/>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 INTRODUÇÃO AO PANDAS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390117" y="3175631"/>
            <a:ext cx="13507765" cy="5000923"/>
          </a:xfrm>
          <a:prstGeom prst="rect">
            <a:avLst/>
          </a:prstGeom>
        </p:spPr>
        <p:txBody>
          <a:bodyPr anchor="t" rtlCol="false" tIns="0" lIns="0" bIns="0" rIns="0">
            <a:spAutoFit/>
          </a:bodyPr>
          <a:lstStyle/>
          <a:p>
            <a:pPr algn="ctr">
              <a:lnSpc>
                <a:spcPts val="4479"/>
              </a:lnSpc>
            </a:pPr>
            <a:r>
              <a:rPr lang="en-US" sz="3199">
                <a:solidFill>
                  <a:srgbClr val="353534"/>
                </a:solidFill>
                <a:latin typeface="Merriweather"/>
                <a:ea typeface="Merriweather"/>
                <a:cs typeface="Merriweather"/>
                <a:sym typeface="Merriweather"/>
              </a:rPr>
              <a:t>Porque Pandas é padrão no mercado</a:t>
            </a:r>
          </a:p>
          <a:p>
            <a:pPr algn="just">
              <a:lnSpc>
                <a:spcPts val="3920"/>
              </a:lnSpc>
              <a:spcBef>
                <a:spcPct val="0"/>
              </a:spcBef>
            </a:pPr>
            <a:r>
              <a:rPr lang="en-US" sz="2800">
                <a:solidFill>
                  <a:srgbClr val="353534"/>
                </a:solidFill>
                <a:latin typeface="Merriweather"/>
                <a:ea typeface="Merriweather"/>
                <a:cs typeface="Merriweather"/>
                <a:sym typeface="Merriweather"/>
              </a:rPr>
              <a:t>A</a:t>
            </a:r>
            <a:r>
              <a:rPr lang="en-US" sz="2800">
                <a:solidFill>
                  <a:srgbClr val="353534"/>
                </a:solidFill>
                <a:latin typeface="Merriweather"/>
                <a:ea typeface="Merriweather"/>
                <a:cs typeface="Merriweather"/>
                <a:sym typeface="Merriweather"/>
              </a:rPr>
              <a:t> biblioteca Pandas se tornou o padrão de mercado para manipulação e análise de dados em Python devido a uma combinação de facilidade de uso, poder de processamento, flexibilidade e uma vasta comunidade de suporte. Algumas de suas características mais importantes e diferenciais são: poder ler e mesclar dados de várias fontes, ter integração com outras bibliotecas essenciais da linguagem python, como NumPy e MatPlotLib, e usar DataFrames, uma estrutura de dados bidimensional similar a uma planilha do Excel que foi criada especificamente para fazer manipulação de dados dentro dessa biblioteca.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384178" y="1378150"/>
            <a:ext cx="9519644" cy="1028727"/>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ESTRUTURAS DO PANDAS</a:t>
            </a:r>
          </a:p>
        </p:txBody>
      </p:sp>
      <p:grpSp>
        <p:nvGrpSpPr>
          <p:cNvPr name="Group 7" id="7"/>
          <p:cNvGrpSpPr/>
          <p:nvPr/>
        </p:nvGrpSpPr>
        <p:grpSpPr>
          <a:xfrm rot="0">
            <a:off x="16197774" y="8764908"/>
            <a:ext cx="1061526" cy="3044184"/>
            <a:chOff x="0" y="0"/>
            <a:chExt cx="279579" cy="801760"/>
          </a:xfrm>
        </p:grpSpPr>
        <p:sp>
          <p:nvSpPr>
            <p:cNvPr name="Freeform 8" id="8"/>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9" id="9"/>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03</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468922" y="3769663"/>
            <a:ext cx="5766671" cy="3019614"/>
          </a:xfrm>
          <a:prstGeom prst="rect">
            <a:avLst/>
          </a:prstGeom>
        </p:spPr>
        <p:txBody>
          <a:bodyPr anchor="t" rtlCol="false" tIns="0" lIns="0" bIns="0" rIns="0">
            <a:spAutoFit/>
          </a:bodyPr>
          <a:lstStyle/>
          <a:p>
            <a:pPr algn="ctr">
              <a:lnSpc>
                <a:spcPts val="4479"/>
              </a:lnSpc>
            </a:pPr>
            <a:r>
              <a:rPr lang="en-US" sz="3199">
                <a:solidFill>
                  <a:srgbClr val="353534"/>
                </a:solidFill>
                <a:latin typeface="Merriweather"/>
                <a:ea typeface="Merriweather"/>
                <a:cs typeface="Merriweather"/>
                <a:sym typeface="Merriweather"/>
              </a:rPr>
              <a:t>Series (1D)</a:t>
            </a:r>
          </a:p>
          <a:p>
            <a:pPr algn="just">
              <a:lnSpc>
                <a:spcPts val="3920"/>
              </a:lnSpc>
              <a:spcBef>
                <a:spcPct val="0"/>
              </a:spcBef>
            </a:pPr>
            <a:r>
              <a:rPr lang="en-US" sz="2800">
                <a:solidFill>
                  <a:srgbClr val="353534"/>
                </a:solidFill>
                <a:latin typeface="Merriweather"/>
                <a:ea typeface="Merriweather"/>
                <a:cs typeface="Merriweather"/>
                <a:sym typeface="Merriweather"/>
              </a:rPr>
              <a:t>A</a:t>
            </a:r>
            <a:r>
              <a:rPr lang="en-US" sz="2800">
                <a:solidFill>
                  <a:srgbClr val="353534"/>
                </a:solidFill>
                <a:latin typeface="Merriweather"/>
                <a:ea typeface="Merriweather"/>
                <a:cs typeface="Merriweather"/>
                <a:sym typeface="Merriweather"/>
              </a:rPr>
              <a:t> Series é uma estrutura unidimensional, semelhante a uma lista ou coluna de uma tabela, onde cada valor possui um índice associado. </a:t>
            </a:r>
          </a:p>
        </p:txBody>
      </p:sp>
      <p:sp>
        <p:nvSpPr>
          <p:cNvPr name="TextBox 13" id="13"/>
          <p:cNvSpPr txBox="true"/>
          <p:nvPr/>
        </p:nvSpPr>
        <p:spPr>
          <a:xfrm rot="0">
            <a:off x="9481452" y="3769663"/>
            <a:ext cx="6289740" cy="5000923"/>
          </a:xfrm>
          <a:prstGeom prst="rect">
            <a:avLst/>
          </a:prstGeom>
        </p:spPr>
        <p:txBody>
          <a:bodyPr anchor="t" rtlCol="false" tIns="0" lIns="0" bIns="0" rIns="0">
            <a:spAutoFit/>
          </a:bodyPr>
          <a:lstStyle/>
          <a:p>
            <a:pPr algn="ctr">
              <a:lnSpc>
                <a:spcPts val="4479"/>
              </a:lnSpc>
            </a:pPr>
            <a:r>
              <a:rPr lang="en-US" sz="3199">
                <a:solidFill>
                  <a:srgbClr val="353534"/>
                </a:solidFill>
                <a:latin typeface="Merriweather"/>
                <a:ea typeface="Merriweather"/>
                <a:cs typeface="Merriweather"/>
                <a:sym typeface="Merriweather"/>
              </a:rPr>
              <a:t>DataFrame (2D)</a:t>
            </a:r>
          </a:p>
          <a:p>
            <a:pPr algn="just">
              <a:lnSpc>
                <a:spcPts val="3920"/>
              </a:lnSpc>
              <a:spcBef>
                <a:spcPct val="0"/>
              </a:spcBef>
            </a:pPr>
            <a:r>
              <a:rPr lang="en-US" sz="2800">
                <a:solidFill>
                  <a:srgbClr val="353534"/>
                </a:solidFill>
                <a:latin typeface="Merriweather"/>
                <a:ea typeface="Merriweather"/>
                <a:cs typeface="Merriweather"/>
                <a:sym typeface="Merriweather"/>
              </a:rPr>
              <a:t>o DataFrame é uma estrutura bidimensional, organizada em linhas e colunas, e permite armazenar diferentes tipos de dados em cada coluna, como números, textos e datas. Além disso, é possível acessar, filtrar e manipular dados facilmente dentro dessas estruturas.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04</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27"/>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LEITURA DE DADOS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390117" y="2885037"/>
            <a:ext cx="13507765" cy="5991577"/>
          </a:xfrm>
          <a:prstGeom prst="rect">
            <a:avLst/>
          </a:prstGeom>
        </p:spPr>
        <p:txBody>
          <a:bodyPr anchor="t" rtlCol="false" tIns="0" lIns="0" bIns="0" rIns="0">
            <a:spAutoFit/>
          </a:bodyPr>
          <a:lstStyle/>
          <a:p>
            <a:pPr algn="ctr">
              <a:lnSpc>
                <a:spcPts val="4479"/>
              </a:lnSpc>
            </a:pPr>
            <a:r>
              <a:rPr lang="en-US" sz="3199">
                <a:solidFill>
                  <a:srgbClr val="353534"/>
                </a:solidFill>
                <a:latin typeface="Merriweather"/>
                <a:ea typeface="Merriweather"/>
                <a:cs typeface="Merriweather"/>
                <a:sym typeface="Merriweather"/>
              </a:rPr>
              <a:t>Como importar arquivos CSV e Excel</a:t>
            </a:r>
          </a:p>
          <a:p>
            <a:pPr algn="just">
              <a:lnSpc>
                <a:spcPts val="3920"/>
              </a:lnSpc>
              <a:spcBef>
                <a:spcPct val="0"/>
              </a:spcBef>
            </a:pPr>
            <a:r>
              <a:rPr lang="en-US" sz="2800">
                <a:solidFill>
                  <a:srgbClr val="353534"/>
                </a:solidFill>
                <a:latin typeface="Merriweather"/>
                <a:ea typeface="Merriweather"/>
                <a:cs typeface="Merriweather"/>
                <a:sym typeface="Merriweather"/>
              </a:rPr>
              <a:t>No Pandas, existem funções específicas que fazem a leitura dos arquivos e os transformam em DataFrames. No caso de arquivos CSV, a função mais utilizada é read_csv(), que lê arquivos separados por vírgulas (ou outros delimitadores) e organiza os dados automaticamente em colunas. Já para arquivos Excel, utiliza-se a função read_excel(), que permite carregar dados de uma ou mais planilhas dentro do arquivo. Durante a importação, é possível configurar diversos parâmetros, como o separador de colunas, o nome das colunas, o tipo de dados e até mesmo quais linhas ou abas devem ser lidas.  Além disso, o Pandas consegue identificar automaticamente muitos padrões; após a importação, os dados ficam prontos para exploração, limpeza e análise dentro do ambiente Python.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05</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2095554"/>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INSPEÇÃO BÁSICA DOS DADOS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390117" y="3795391"/>
            <a:ext cx="13507765" cy="4265295"/>
          </a:xfrm>
          <a:prstGeom prst="rect">
            <a:avLst/>
          </a:prstGeom>
        </p:spPr>
        <p:txBody>
          <a:bodyPr anchor="t" rtlCol="false" tIns="0" lIns="0" bIns="0" rIns="0">
            <a:spAutoFit/>
          </a:bodyPr>
          <a:lstStyle/>
          <a:p>
            <a:pPr algn="l">
              <a:lnSpc>
                <a:spcPts val="3779"/>
              </a:lnSpc>
            </a:pPr>
            <a:r>
              <a:rPr lang="en-US" sz="2700">
                <a:solidFill>
                  <a:srgbClr val="353534"/>
                </a:solidFill>
                <a:latin typeface="Merriweather"/>
                <a:ea typeface="Merriweather"/>
                <a:cs typeface="Merriweather"/>
                <a:sym typeface="Merriweather"/>
              </a:rPr>
              <a:t>Antes de realizar qualquer análise, é essencial entender como os dados estão organizados. O Pandas oferece funções que permitem visualizar as primeiras e últimas linhas do conjunto de dados, ajudando a ter uma noção inicial do conteúdo. Também é possível verificar o número de linhas e colunas, além dos tipos de dados de cada coluna. Essas informações ajudam a identificar possíveis problemas, como dados incorretos ou formatos inadequados. Outro ponto importante é observar se existem valores ausentes ou inconsistentes. Essa etapa inicial é fundamental para evitar erros nas análises futuras. Com uma boa inspeção, o analista consegue planejar melhor os próximos passos.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06</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2095554"/>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INSPEÇÃO BÁSICA DOS DADOS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0064393" y="4032198"/>
            <a:ext cx="6142906" cy="5000923"/>
          </a:xfrm>
          <a:prstGeom prst="rect">
            <a:avLst/>
          </a:prstGeom>
        </p:spPr>
        <p:txBody>
          <a:bodyPr anchor="t" rtlCol="false" tIns="0" lIns="0" bIns="0" rIns="0">
            <a:spAutoFit/>
          </a:bodyPr>
          <a:lstStyle/>
          <a:p>
            <a:pPr algn="ctr">
              <a:lnSpc>
                <a:spcPts val="4479"/>
              </a:lnSpc>
            </a:pPr>
            <a:r>
              <a:rPr lang="en-US" sz="3199">
                <a:solidFill>
                  <a:srgbClr val="353534"/>
                </a:solidFill>
                <a:latin typeface="Merriweather"/>
                <a:ea typeface="Merriweather"/>
                <a:cs typeface="Merriweather"/>
                <a:sym typeface="Merriweather"/>
              </a:rPr>
              <a:t>Dimensões do DataSet</a:t>
            </a:r>
          </a:p>
          <a:p>
            <a:pPr algn="just">
              <a:lnSpc>
                <a:spcPts val="3920"/>
              </a:lnSpc>
            </a:pPr>
            <a:r>
              <a:rPr lang="en-US" sz="2800">
                <a:solidFill>
                  <a:srgbClr val="353534"/>
                </a:solidFill>
                <a:latin typeface="Merriweather"/>
                <a:ea typeface="Merriweather"/>
                <a:cs typeface="Merriweather"/>
                <a:sym typeface="Merriweather"/>
              </a:rPr>
              <a:t>Operadores racionais e lógicos</a:t>
            </a:r>
          </a:p>
          <a:p>
            <a:pPr algn="just">
              <a:lnSpc>
                <a:spcPts val="3920"/>
              </a:lnSpc>
              <a:spcBef>
                <a:spcPct val="0"/>
              </a:spcBef>
            </a:pPr>
            <a:r>
              <a:rPr lang="en-US" sz="2800">
                <a:solidFill>
                  <a:srgbClr val="353534"/>
                </a:solidFill>
                <a:latin typeface="Merriweather"/>
                <a:ea typeface="Merriweather"/>
                <a:cs typeface="Merriweather"/>
                <a:sym typeface="Merriweather"/>
              </a:rPr>
              <a:t>Par</a:t>
            </a:r>
            <a:r>
              <a:rPr lang="en-US" sz="2800">
                <a:solidFill>
                  <a:srgbClr val="353534"/>
                </a:solidFill>
                <a:latin typeface="Merriweather"/>
                <a:ea typeface="Merriweather"/>
                <a:cs typeface="Merriweather"/>
                <a:sym typeface="Merriweather"/>
              </a:rPr>
              <a:t>a criar condições, comparamos valores usando operadores relacionais: Maior (&gt;), Menor (&lt;), Maior ou igual (&gt;=), Menor ou igual (&lt;=), Igualdade (==) e Diferença (!=). Também podemos juntar condições usando "and" (E lógico) e "or" (OU lógico).</a:t>
            </a:r>
          </a:p>
        </p:txBody>
      </p:sp>
      <p:sp>
        <p:nvSpPr>
          <p:cNvPr name="TextBox 13" id="13"/>
          <p:cNvSpPr txBox="true"/>
          <p:nvPr/>
        </p:nvSpPr>
        <p:spPr>
          <a:xfrm rot="0">
            <a:off x="2282629" y="4032198"/>
            <a:ext cx="6142906" cy="5000923"/>
          </a:xfrm>
          <a:prstGeom prst="rect">
            <a:avLst/>
          </a:prstGeom>
        </p:spPr>
        <p:txBody>
          <a:bodyPr anchor="t" rtlCol="false" tIns="0" lIns="0" bIns="0" rIns="0">
            <a:spAutoFit/>
          </a:bodyPr>
          <a:lstStyle/>
          <a:p>
            <a:pPr algn="ctr">
              <a:lnSpc>
                <a:spcPts val="4479"/>
              </a:lnSpc>
            </a:pPr>
            <a:r>
              <a:rPr lang="en-US" sz="3199">
                <a:solidFill>
                  <a:srgbClr val="353534"/>
                </a:solidFill>
                <a:latin typeface="Merriweather"/>
                <a:ea typeface="Merriweather"/>
                <a:cs typeface="Merriweather"/>
                <a:sym typeface="Merriweather"/>
              </a:rPr>
              <a:t>Descrição do DataSet</a:t>
            </a:r>
          </a:p>
          <a:p>
            <a:pPr algn="just">
              <a:lnSpc>
                <a:spcPts val="3920"/>
              </a:lnSpc>
              <a:spcBef>
                <a:spcPct val="0"/>
              </a:spcBef>
            </a:pPr>
            <a:r>
              <a:rPr lang="en-US" sz="2800">
                <a:solidFill>
                  <a:srgbClr val="353534"/>
                </a:solidFill>
                <a:latin typeface="Merriweather"/>
                <a:ea typeface="Merriweather"/>
                <a:cs typeface="Merriweather"/>
                <a:sym typeface="Merriweather"/>
              </a:rPr>
              <a:t>Par</a:t>
            </a:r>
            <a:r>
              <a:rPr lang="en-US" sz="2800">
                <a:solidFill>
                  <a:srgbClr val="353534"/>
                </a:solidFill>
                <a:latin typeface="Merriweather"/>
                <a:ea typeface="Merriweather"/>
                <a:cs typeface="Merriweather"/>
                <a:sym typeface="Merriweather"/>
              </a:rPr>
              <a:t>a obter informações gerais, como tipos de dados das colunas, quantidade de valores não nulos e memória utilizada, utiliza-se o método info(). Ele fornece um resumo importante para identificar possíveis problemas, como dados faltantes ou tipos incorretos.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07</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2095554"/>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LIMPEZA E TRATAMENTO DE DADOS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468922" y="4104437"/>
            <a:ext cx="12989388" cy="4939300"/>
          </a:xfrm>
          <a:prstGeom prst="rect">
            <a:avLst/>
          </a:prstGeom>
        </p:spPr>
        <p:txBody>
          <a:bodyPr anchor="t" rtlCol="false" tIns="0" lIns="0" bIns="0" rIns="0">
            <a:spAutoFit/>
          </a:bodyPr>
          <a:lstStyle/>
          <a:p>
            <a:pPr algn="l">
              <a:lnSpc>
                <a:spcPts val="3920"/>
              </a:lnSpc>
            </a:pPr>
            <a:r>
              <a:rPr lang="en-US" sz="2800">
                <a:solidFill>
                  <a:srgbClr val="353534"/>
                </a:solidFill>
                <a:latin typeface="Merriweather"/>
                <a:ea typeface="Merriweather"/>
                <a:cs typeface="Merriweather"/>
                <a:sym typeface="Merriweather"/>
              </a:rPr>
              <a:t>Dados</a:t>
            </a:r>
            <a:r>
              <a:rPr lang="en-US" sz="2800">
                <a:solidFill>
                  <a:srgbClr val="353534"/>
                </a:solidFill>
                <a:latin typeface="Merriweather"/>
                <a:ea typeface="Merriweather"/>
                <a:cs typeface="Merriweather"/>
                <a:sym typeface="Merriweather"/>
              </a:rPr>
              <a:t> do</a:t>
            </a:r>
            <a:r>
              <a:rPr lang="en-US" sz="2800">
                <a:solidFill>
                  <a:srgbClr val="353534"/>
                </a:solidFill>
                <a:latin typeface="Merriweather"/>
                <a:ea typeface="Merriweather"/>
                <a:cs typeface="Merriweather"/>
                <a:sym typeface="Merriweather"/>
              </a:rPr>
              <a:t> mundo real raramente estão prontos para análise, sendo comum encontrar erros, valores faltantes ou duplicados. O Pandas oferece diversas ferramentas para lidar com esses problemas de forma eficiente. É possível identificar valores nulos, removê-los ou substituí-los por outros valores apropriados. Também é possível eliminar registros duplicados que podem distorcer os resultados. Além disso, o Pandas permite filtrar dados, selecionar apenas informações relevantes e corrigir formatos inconsistentes. Esse processo de limpeza é essencial para garantir a qualidade dos dados. Quanto mais limpos e organizados os dados estiverem, mais confiáveis serão as análises realizadas.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08</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2095554"/>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LIMPEZA E TRATAMENTO DE DADOS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649306" y="3823672"/>
            <a:ext cx="12989388" cy="5434628"/>
          </a:xfrm>
          <a:prstGeom prst="rect">
            <a:avLst/>
          </a:prstGeom>
        </p:spPr>
        <p:txBody>
          <a:bodyPr anchor="t" rtlCol="false" tIns="0" lIns="0" bIns="0" rIns="0">
            <a:spAutoFit/>
          </a:bodyPr>
          <a:lstStyle/>
          <a:p>
            <a:pPr algn="l">
              <a:lnSpc>
                <a:spcPts val="3920"/>
              </a:lnSpc>
            </a:pPr>
            <a:r>
              <a:rPr lang="en-US" sz="2800">
                <a:solidFill>
                  <a:srgbClr val="353534"/>
                </a:solidFill>
                <a:latin typeface="Merriweather"/>
                <a:ea typeface="Merriweather"/>
                <a:cs typeface="Merriweather"/>
                <a:sym typeface="Merriweather"/>
              </a:rPr>
              <a:t>Eis alguns métodos para a identificação e o tratamento de problemas nos dados são etapas fundamentais para garantir análises confiáveis:</a:t>
            </a:r>
          </a:p>
          <a:p>
            <a:pPr algn="l" marL="604521" indent="-302261" lvl="1">
              <a:lnSpc>
                <a:spcPts val="3920"/>
              </a:lnSpc>
              <a:buFont typeface="Arial"/>
              <a:buChar char="•"/>
            </a:pPr>
            <a:r>
              <a:rPr lang="en-US" sz="2800">
                <a:solidFill>
                  <a:srgbClr val="353534"/>
                </a:solidFill>
                <a:latin typeface="Merriweather"/>
                <a:ea typeface="Merriweather"/>
                <a:cs typeface="Merriweather"/>
                <a:sym typeface="Merriweather"/>
              </a:rPr>
              <a:t> Para identificar valores nulos: o método isnull(), que retorna uma estrutura indicando onde existem dados faltantes, podendo ser combinado com sum() para contar quantos valores nulos existem em cada coluna. Você pode remover esses valores com dropna(), que exclui linhas ou colunas com dados ausentes, ou substituí-los usando fillna(), preenchendo com valores específicos</a:t>
            </a:r>
          </a:p>
          <a:p>
            <a:pPr algn="l" marL="604521" indent="-302261" lvl="1">
              <a:lnSpc>
                <a:spcPts val="3920"/>
              </a:lnSpc>
              <a:buFont typeface="Arial"/>
              <a:buChar char="•"/>
            </a:pPr>
            <a:r>
              <a:rPr lang="en-US" sz="2800">
                <a:solidFill>
                  <a:srgbClr val="353534"/>
                </a:solidFill>
                <a:latin typeface="Merriweather"/>
                <a:ea typeface="Merriweather"/>
                <a:cs typeface="Merriweather"/>
                <a:sym typeface="Merriweather"/>
              </a:rPr>
              <a:t>Para lidar com valores duplicados:  o método duplicated(), que indica quais linhas estão repetidas no conjunto de dados. Em seguida, pode-se utilizar drop_duplicates() para remover essas duplicatas.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09</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2095554"/>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ESTATÍSTICA DESCRITIVA BÁSICA</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460420" y="3823672"/>
            <a:ext cx="13367160" cy="4939300"/>
          </a:xfrm>
          <a:prstGeom prst="rect">
            <a:avLst/>
          </a:prstGeom>
        </p:spPr>
        <p:txBody>
          <a:bodyPr anchor="t" rtlCol="false" tIns="0" lIns="0" bIns="0" rIns="0">
            <a:spAutoFit/>
          </a:bodyPr>
          <a:lstStyle/>
          <a:p>
            <a:pPr algn="l">
              <a:lnSpc>
                <a:spcPts val="3920"/>
              </a:lnSpc>
            </a:pPr>
            <a:r>
              <a:rPr lang="en-US" sz="2800">
                <a:solidFill>
                  <a:srgbClr val="353534"/>
                </a:solidFill>
                <a:latin typeface="Merriweather"/>
                <a:ea typeface="Merriweather"/>
                <a:cs typeface="Merriweather"/>
                <a:sym typeface="Merriweather"/>
              </a:rPr>
              <a:t> Para calcular a média de uma coluna, utiliza-se o método mean(), que retorna o valor médio dos dados numéricos. Já a mediana, que representa o valor central de um conjunto ordenado, pode ser obtida com o método median(). A moda, que indica o valor que mais se repete, é calculada com mode(), podendo retornar mais de um valor caso haja múltiplas modas.</a:t>
            </a:r>
          </a:p>
          <a:p>
            <a:pPr algn="l">
              <a:lnSpc>
                <a:spcPts val="3920"/>
              </a:lnSpc>
            </a:pPr>
            <a:r>
              <a:rPr lang="en-US" sz="2800">
                <a:solidFill>
                  <a:srgbClr val="353534"/>
                </a:solidFill>
                <a:latin typeface="Merriweather"/>
                <a:ea typeface="Merriweather"/>
                <a:cs typeface="Merriweather"/>
                <a:sym typeface="Merriweather"/>
              </a:rPr>
              <a:t>Além disso, o Pandas permite identificar os valores extremos de um conjunto de dados. O valor máximo é obtido com o método max(), enquanto o valor mínimo é encontrado com min(). Essas funções ajudam a entender os limites dos dados e identificar possíveis outliers ou valores fora do padrão.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64294" y="2906886"/>
            <a:ext cx="4740498" cy="392017"/>
          </a:xfrm>
          <a:custGeom>
            <a:avLst/>
            <a:gdLst/>
            <a:ahLst/>
            <a:cxnLst/>
            <a:rect r="r" b="b" t="t" l="l"/>
            <a:pathLst>
              <a:path h="392017" w="4740498">
                <a:moveTo>
                  <a:pt x="0" y="0"/>
                </a:moveTo>
                <a:lnTo>
                  <a:pt x="4740497" y="0"/>
                </a:lnTo>
                <a:lnTo>
                  <a:pt x="4740497"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9284" y="536638"/>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269321" y="7123585"/>
            <a:ext cx="4740498" cy="392017"/>
          </a:xfrm>
          <a:custGeom>
            <a:avLst/>
            <a:gdLst/>
            <a:ahLst/>
            <a:cxnLst/>
            <a:rect r="r" b="b" t="t" l="l"/>
            <a:pathLst>
              <a:path h="392017" w="4740498">
                <a:moveTo>
                  <a:pt x="0" y="0"/>
                </a:moveTo>
                <a:lnTo>
                  <a:pt x="4740498" y="0"/>
                </a:lnTo>
                <a:lnTo>
                  <a:pt x="4740498"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2925742" y="9493834"/>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844934" y="732646"/>
            <a:ext cx="2767824" cy="2737630"/>
          </a:xfrm>
          <a:custGeom>
            <a:avLst/>
            <a:gdLst/>
            <a:ahLst/>
            <a:cxnLst/>
            <a:rect r="r" b="b" t="t" l="l"/>
            <a:pathLst>
              <a:path h="2737630" w="2767824">
                <a:moveTo>
                  <a:pt x="0" y="0"/>
                </a:moveTo>
                <a:lnTo>
                  <a:pt x="2767824" y="0"/>
                </a:lnTo>
                <a:lnTo>
                  <a:pt x="2767824" y="2737630"/>
                </a:lnTo>
                <a:lnTo>
                  <a:pt x="0" y="2737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644447" y="7027759"/>
            <a:ext cx="2753631" cy="2723591"/>
          </a:xfrm>
          <a:custGeom>
            <a:avLst/>
            <a:gdLst/>
            <a:ahLst/>
            <a:cxnLst/>
            <a:rect r="r" b="b" t="t" l="l"/>
            <a:pathLst>
              <a:path h="2723591" w="2753631">
                <a:moveTo>
                  <a:pt x="0" y="0"/>
                </a:moveTo>
                <a:lnTo>
                  <a:pt x="2753630" y="0"/>
                </a:lnTo>
                <a:lnTo>
                  <a:pt x="2753630" y="2723591"/>
                </a:lnTo>
                <a:lnTo>
                  <a:pt x="0" y="2723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928678" y="3260726"/>
            <a:ext cx="12430645" cy="1882774"/>
          </a:xfrm>
          <a:prstGeom prst="rect">
            <a:avLst/>
          </a:prstGeom>
        </p:spPr>
        <p:txBody>
          <a:bodyPr anchor="t" rtlCol="false" tIns="0" lIns="0" bIns="0" rIns="0">
            <a:spAutoFit/>
          </a:bodyPr>
          <a:lstStyle/>
          <a:p>
            <a:pPr algn="ctr">
              <a:lnSpc>
                <a:spcPts val="15400"/>
              </a:lnSpc>
              <a:spcBef>
                <a:spcPct val="0"/>
              </a:spcBef>
            </a:pPr>
            <a:r>
              <a:rPr lang="en-US" sz="11000">
                <a:solidFill>
                  <a:srgbClr val="353534"/>
                </a:solidFill>
                <a:latin typeface="Abril Fatface"/>
                <a:ea typeface="Abril Fatface"/>
                <a:cs typeface="Abril Fatface"/>
                <a:sym typeface="Abril Fatface"/>
              </a:rPr>
              <a:t>FIM DO MÓDULO 2</a:t>
            </a:r>
          </a:p>
        </p:txBody>
      </p:sp>
      <p:sp>
        <p:nvSpPr>
          <p:cNvPr name="TextBox 9" id="9"/>
          <p:cNvSpPr txBox="true"/>
          <p:nvPr/>
        </p:nvSpPr>
        <p:spPr>
          <a:xfrm rot="0">
            <a:off x="4658970" y="5546106"/>
            <a:ext cx="8970060" cy="1562208"/>
          </a:xfrm>
          <a:prstGeom prst="rect">
            <a:avLst/>
          </a:prstGeom>
        </p:spPr>
        <p:txBody>
          <a:bodyPr anchor="t" rtlCol="false" tIns="0" lIns="0" bIns="0" rIns="0">
            <a:spAutoFit/>
          </a:bodyPr>
          <a:lstStyle/>
          <a:p>
            <a:pPr algn="ctr">
              <a:lnSpc>
                <a:spcPts val="6299"/>
              </a:lnSpc>
              <a:spcBef>
                <a:spcPct val="0"/>
              </a:spcBef>
            </a:pPr>
            <a:r>
              <a:rPr lang="en-US" sz="4500">
                <a:solidFill>
                  <a:srgbClr val="353534"/>
                </a:solidFill>
                <a:latin typeface="Merriweather"/>
                <a:ea typeface="Merriweather"/>
                <a:cs typeface="Merriweather"/>
                <a:sym typeface="Merriweather"/>
              </a:rPr>
              <a:t>Agora é a hora de fazer os exercícios!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DAHFid-V_g4</dc:identifier>
  <dcterms:modified xsi:type="dcterms:W3CDTF">2011-08-01T06:04:30Z</dcterms:modified>
  <cp:revision>1</cp:revision>
  <dc:title>módulo 2</dc:title>
</cp:coreProperties>
</file>
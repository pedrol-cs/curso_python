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Abril Fatface" charset="1" panose="02000503000000020003"/>
      <p:regular r:id="rId19"/>
    </p:embeddedFont>
    <p:embeddedFont>
      <p:font typeface="Merriweather" charset="1" panose="000005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https://pandas.pydata.org" TargetMode="External" Type="http://schemas.openxmlformats.org/officeDocument/2006/relationships/hyperlink"/><Relationship Id="rId7" Target="https://pandas.pydata.org" TargetMode="External" Type="http://schemas.openxmlformats.org/officeDocument/2006/relationships/hyperlink"/></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0EFE5"/>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664294" y="2906886"/>
            <a:ext cx="4740498" cy="392017"/>
          </a:xfrm>
          <a:custGeom>
            <a:avLst/>
            <a:gdLst/>
            <a:ahLst/>
            <a:cxnLst/>
            <a:rect r="r" b="b" t="t" l="l"/>
            <a:pathLst>
              <a:path h="392017" w="4740498">
                <a:moveTo>
                  <a:pt x="0" y="0"/>
                </a:moveTo>
                <a:lnTo>
                  <a:pt x="4740497" y="0"/>
                </a:lnTo>
                <a:lnTo>
                  <a:pt x="4740497" y="392017"/>
                </a:lnTo>
                <a:lnTo>
                  <a:pt x="0" y="3920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79284" y="536638"/>
            <a:ext cx="4740498" cy="392017"/>
          </a:xfrm>
          <a:custGeom>
            <a:avLst/>
            <a:gdLst/>
            <a:ahLst/>
            <a:cxnLst/>
            <a:rect r="r" b="b" t="t" l="l"/>
            <a:pathLst>
              <a:path h="392017" w="4740498">
                <a:moveTo>
                  <a:pt x="0" y="0"/>
                </a:moveTo>
                <a:lnTo>
                  <a:pt x="4740498" y="0"/>
                </a:lnTo>
                <a:lnTo>
                  <a:pt x="4740498" y="392016"/>
                </a:lnTo>
                <a:lnTo>
                  <a:pt x="0" y="3920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15269321" y="7123585"/>
            <a:ext cx="4740498" cy="392017"/>
          </a:xfrm>
          <a:custGeom>
            <a:avLst/>
            <a:gdLst/>
            <a:ahLst/>
            <a:cxnLst/>
            <a:rect r="r" b="b" t="t" l="l"/>
            <a:pathLst>
              <a:path h="392017" w="4740498">
                <a:moveTo>
                  <a:pt x="0" y="0"/>
                </a:moveTo>
                <a:lnTo>
                  <a:pt x="4740498" y="0"/>
                </a:lnTo>
                <a:lnTo>
                  <a:pt x="4740498" y="392017"/>
                </a:lnTo>
                <a:lnTo>
                  <a:pt x="0" y="3920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800000">
            <a:off x="12925742" y="9493834"/>
            <a:ext cx="4740498" cy="392017"/>
          </a:xfrm>
          <a:custGeom>
            <a:avLst/>
            <a:gdLst/>
            <a:ahLst/>
            <a:cxnLst/>
            <a:rect r="r" b="b" t="t" l="l"/>
            <a:pathLst>
              <a:path h="392017" w="4740498">
                <a:moveTo>
                  <a:pt x="0" y="0"/>
                </a:moveTo>
                <a:lnTo>
                  <a:pt x="4740498" y="0"/>
                </a:lnTo>
                <a:lnTo>
                  <a:pt x="4740498" y="392016"/>
                </a:lnTo>
                <a:lnTo>
                  <a:pt x="0" y="3920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4844934" y="732646"/>
            <a:ext cx="2767824" cy="2737630"/>
          </a:xfrm>
          <a:custGeom>
            <a:avLst/>
            <a:gdLst/>
            <a:ahLst/>
            <a:cxnLst/>
            <a:rect r="r" b="b" t="t" l="l"/>
            <a:pathLst>
              <a:path h="2737630" w="2767824">
                <a:moveTo>
                  <a:pt x="0" y="0"/>
                </a:moveTo>
                <a:lnTo>
                  <a:pt x="2767824" y="0"/>
                </a:lnTo>
                <a:lnTo>
                  <a:pt x="2767824" y="2737630"/>
                </a:lnTo>
                <a:lnTo>
                  <a:pt x="0" y="27376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0800000">
            <a:off x="644447" y="7027759"/>
            <a:ext cx="2753631" cy="2723591"/>
          </a:xfrm>
          <a:custGeom>
            <a:avLst/>
            <a:gdLst/>
            <a:ahLst/>
            <a:cxnLst/>
            <a:rect r="r" b="b" t="t" l="l"/>
            <a:pathLst>
              <a:path h="2723591" w="2753631">
                <a:moveTo>
                  <a:pt x="0" y="0"/>
                </a:moveTo>
                <a:lnTo>
                  <a:pt x="2753630" y="0"/>
                </a:lnTo>
                <a:lnTo>
                  <a:pt x="2753630" y="2723591"/>
                </a:lnTo>
                <a:lnTo>
                  <a:pt x="0" y="27235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3049533" y="1546031"/>
            <a:ext cx="12163898" cy="5788024"/>
          </a:xfrm>
          <a:prstGeom prst="rect">
            <a:avLst/>
          </a:prstGeom>
        </p:spPr>
        <p:txBody>
          <a:bodyPr anchor="t" rtlCol="false" tIns="0" lIns="0" bIns="0" rIns="0">
            <a:spAutoFit/>
          </a:bodyPr>
          <a:lstStyle/>
          <a:p>
            <a:pPr algn="ctr">
              <a:lnSpc>
                <a:spcPts val="15400"/>
              </a:lnSpc>
              <a:spcBef>
                <a:spcPct val="0"/>
              </a:spcBef>
            </a:pPr>
            <a:r>
              <a:rPr lang="en-US" sz="11000">
                <a:solidFill>
                  <a:srgbClr val="353534"/>
                </a:solidFill>
                <a:latin typeface="Abril Fatface"/>
                <a:ea typeface="Abril Fatface"/>
                <a:cs typeface="Abril Fatface"/>
                <a:sym typeface="Abril Fatface"/>
              </a:rPr>
              <a:t>PYTHON PARA CIÊNCIA DE DADOS</a:t>
            </a:r>
          </a:p>
        </p:txBody>
      </p:sp>
      <p:sp>
        <p:nvSpPr>
          <p:cNvPr name="TextBox 9" id="9"/>
          <p:cNvSpPr txBox="true"/>
          <p:nvPr/>
        </p:nvSpPr>
        <p:spPr>
          <a:xfrm rot="0">
            <a:off x="4084897" y="8103831"/>
            <a:ext cx="10118206" cy="514350"/>
          </a:xfrm>
          <a:prstGeom prst="rect">
            <a:avLst/>
          </a:prstGeom>
        </p:spPr>
        <p:txBody>
          <a:bodyPr anchor="t" rtlCol="false" tIns="0" lIns="0" bIns="0" rIns="0">
            <a:spAutoFit/>
          </a:bodyPr>
          <a:lstStyle/>
          <a:p>
            <a:pPr algn="ctr">
              <a:lnSpc>
                <a:spcPts val="4200"/>
              </a:lnSpc>
              <a:spcBef>
                <a:spcPct val="0"/>
              </a:spcBef>
            </a:pPr>
            <a:r>
              <a:rPr lang="en-US" sz="3000">
                <a:solidFill>
                  <a:srgbClr val="353534"/>
                </a:solidFill>
                <a:latin typeface="Merriweather"/>
                <a:ea typeface="Merriweather"/>
                <a:cs typeface="Merriweather"/>
                <a:sym typeface="Merriweather"/>
              </a:rPr>
              <a:t>Módulo 3 - Visualização de Dados e Storytelling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0EFE5"/>
        </a:solidFill>
      </p:bgPr>
    </p:bg>
    <p:spTree>
      <p:nvGrpSpPr>
        <p:cNvPr id="1" name=""/>
        <p:cNvGrpSpPr/>
        <p:nvPr/>
      </p:nvGrpSpPr>
      <p:grpSpPr>
        <a:xfrm>
          <a:off x="0" y="0"/>
          <a:ext cx="0" cy="0"/>
          <a:chOff x="0" y="0"/>
          <a:chExt cx="0" cy="0"/>
        </a:xfrm>
      </p:grpSpPr>
      <p:grpSp>
        <p:nvGrpSpPr>
          <p:cNvPr name="Group 2" id="2"/>
          <p:cNvGrpSpPr/>
          <p:nvPr/>
        </p:nvGrpSpPr>
        <p:grpSpPr>
          <a:xfrm rot="0">
            <a:off x="16197774" y="8764908"/>
            <a:ext cx="1061526" cy="3044184"/>
            <a:chOff x="0" y="0"/>
            <a:chExt cx="279579" cy="801760"/>
          </a:xfrm>
        </p:grpSpPr>
        <p:sp>
          <p:nvSpPr>
            <p:cNvPr name="Freeform 3" id="3"/>
            <p:cNvSpPr/>
            <p:nvPr/>
          </p:nvSpPr>
          <p:spPr>
            <a:xfrm flipH="false" flipV="false" rot="0">
              <a:off x="0" y="0"/>
              <a:ext cx="279579" cy="801760"/>
            </a:xfrm>
            <a:custGeom>
              <a:avLst/>
              <a:gdLst/>
              <a:ahLst/>
              <a:cxnLst/>
              <a:rect r="r" b="b" t="t" l="l"/>
              <a:pathLst>
                <a:path h="801760" w="279579">
                  <a:moveTo>
                    <a:pt x="139789" y="0"/>
                  </a:moveTo>
                  <a:lnTo>
                    <a:pt x="139789" y="0"/>
                  </a:lnTo>
                  <a:cubicBezTo>
                    <a:pt x="216993" y="0"/>
                    <a:pt x="279579" y="62586"/>
                    <a:pt x="279579" y="139789"/>
                  </a:cubicBezTo>
                  <a:lnTo>
                    <a:pt x="279579" y="661971"/>
                  </a:lnTo>
                  <a:cubicBezTo>
                    <a:pt x="279579" y="739175"/>
                    <a:pt x="216993" y="801760"/>
                    <a:pt x="139789" y="801760"/>
                  </a:cubicBezTo>
                  <a:lnTo>
                    <a:pt x="139789" y="801760"/>
                  </a:lnTo>
                  <a:cubicBezTo>
                    <a:pt x="62586" y="801760"/>
                    <a:pt x="0" y="739175"/>
                    <a:pt x="0" y="661971"/>
                  </a:cubicBezTo>
                  <a:lnTo>
                    <a:pt x="0" y="139789"/>
                  </a:lnTo>
                  <a:cubicBezTo>
                    <a:pt x="0" y="62586"/>
                    <a:pt x="62586" y="0"/>
                    <a:pt x="139789" y="0"/>
                  </a:cubicBezTo>
                  <a:close/>
                </a:path>
              </a:pathLst>
            </a:custGeom>
            <a:ln w="28575" cap="rnd">
              <a:solidFill>
                <a:srgbClr val="000000"/>
              </a:solidFill>
              <a:prstDash val="solid"/>
              <a:round/>
            </a:ln>
          </p:spPr>
        </p:sp>
        <p:sp>
          <p:nvSpPr>
            <p:cNvPr name="TextBox 4" id="4"/>
            <p:cNvSpPr txBox="true"/>
            <p:nvPr/>
          </p:nvSpPr>
          <p:spPr>
            <a:xfrm>
              <a:off x="0" y="-38100"/>
              <a:ext cx="279579" cy="83986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5400000">
            <a:off x="476287" y="550875"/>
            <a:ext cx="2726522" cy="2696778"/>
          </a:xfrm>
          <a:custGeom>
            <a:avLst/>
            <a:gdLst/>
            <a:ahLst/>
            <a:cxnLst/>
            <a:rect r="r" b="b" t="t" l="l"/>
            <a:pathLst>
              <a:path h="2696778" w="2726522">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6084888" y="9153907"/>
            <a:ext cx="1174412" cy="1047750"/>
          </a:xfrm>
          <a:prstGeom prst="rect">
            <a:avLst/>
          </a:prstGeom>
        </p:spPr>
        <p:txBody>
          <a:bodyPr anchor="t" rtlCol="false" tIns="0" lIns="0" bIns="0" rIns="0">
            <a:spAutoFit/>
          </a:bodyPr>
          <a:lstStyle/>
          <a:p>
            <a:pPr algn="ctr">
              <a:lnSpc>
                <a:spcPts val="4200"/>
              </a:lnSpc>
            </a:pPr>
            <a:r>
              <a:rPr lang="en-US" sz="3000">
                <a:solidFill>
                  <a:srgbClr val="353534"/>
                </a:solidFill>
                <a:latin typeface="Merriweather"/>
                <a:ea typeface="Merriweather"/>
                <a:cs typeface="Merriweather"/>
                <a:sym typeface="Merriweather"/>
              </a:rPr>
              <a:t>01</a:t>
            </a:r>
          </a:p>
          <a:p>
            <a:pPr algn="ctr">
              <a:lnSpc>
                <a:spcPts val="4200"/>
              </a:lnSpc>
              <a:spcBef>
                <a:spcPct val="0"/>
              </a:spcBef>
            </a:pPr>
          </a:p>
        </p:txBody>
      </p:sp>
      <p:sp>
        <p:nvSpPr>
          <p:cNvPr name="Freeform 7" id="7"/>
          <p:cNvSpPr/>
          <p:nvPr/>
        </p:nvSpPr>
        <p:spPr>
          <a:xfrm flipH="false" flipV="false" rot="0">
            <a:off x="495705" y="9364617"/>
            <a:ext cx="3580978" cy="296130"/>
          </a:xfrm>
          <a:custGeom>
            <a:avLst/>
            <a:gdLst/>
            <a:ahLst/>
            <a:cxnLst/>
            <a:rect r="r" b="b" t="t" l="l"/>
            <a:pathLst>
              <a:path h="296130" w="3580978">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5400000">
            <a:off x="-1294784" y="7594275"/>
            <a:ext cx="3580978" cy="296130"/>
          </a:xfrm>
          <a:custGeom>
            <a:avLst/>
            <a:gdLst/>
            <a:ahLst/>
            <a:cxnLst/>
            <a:rect r="r" b="b" t="t" l="l"/>
            <a:pathLst>
              <a:path h="296130" w="3580978">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4754979" y="536003"/>
            <a:ext cx="2726522" cy="2696778"/>
          </a:xfrm>
          <a:custGeom>
            <a:avLst/>
            <a:gdLst/>
            <a:ahLst/>
            <a:cxnLst/>
            <a:rect r="r" b="b" t="t" l="l"/>
            <a:pathLst>
              <a:path h="2696778" w="2726522">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3952197" y="1523430"/>
            <a:ext cx="10383605" cy="1028700"/>
          </a:xfrm>
          <a:prstGeom prst="rect">
            <a:avLst/>
          </a:prstGeom>
        </p:spPr>
        <p:txBody>
          <a:bodyPr anchor="t" rtlCol="false" tIns="0" lIns="0" bIns="0" rIns="0">
            <a:spAutoFit/>
          </a:bodyPr>
          <a:lstStyle/>
          <a:p>
            <a:pPr algn="ctr">
              <a:lnSpc>
                <a:spcPts val="8400"/>
              </a:lnSpc>
              <a:spcBef>
                <a:spcPct val="0"/>
              </a:spcBef>
            </a:pPr>
            <a:r>
              <a:rPr lang="en-US" sz="6000">
                <a:solidFill>
                  <a:srgbClr val="353534"/>
                </a:solidFill>
                <a:latin typeface="Abril Fatface"/>
                <a:ea typeface="Abril Fatface"/>
                <a:cs typeface="Abril Fatface"/>
                <a:sym typeface="Abril Fatface"/>
              </a:rPr>
              <a:t> INTRODUÇÃO</a:t>
            </a:r>
          </a:p>
        </p:txBody>
      </p:sp>
      <p:sp>
        <p:nvSpPr>
          <p:cNvPr name="Freeform 11" id="11"/>
          <p:cNvSpPr/>
          <p:nvPr/>
        </p:nvSpPr>
        <p:spPr>
          <a:xfrm flipH="false" flipV="false" rot="-10800000">
            <a:off x="12626322" y="9364617"/>
            <a:ext cx="3580978" cy="296130"/>
          </a:xfrm>
          <a:custGeom>
            <a:avLst/>
            <a:gdLst/>
            <a:ahLst/>
            <a:cxnLst/>
            <a:rect r="r" b="b" t="t" l="l"/>
            <a:pathLst>
              <a:path h="296130" w="3580978">
                <a:moveTo>
                  <a:pt x="0" y="0"/>
                </a:moveTo>
                <a:lnTo>
                  <a:pt x="3580977" y="0"/>
                </a:lnTo>
                <a:lnTo>
                  <a:pt x="3580977"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2390117" y="3175631"/>
            <a:ext cx="13507765" cy="5434330"/>
          </a:xfrm>
          <a:prstGeom prst="rect">
            <a:avLst/>
          </a:prstGeom>
        </p:spPr>
        <p:txBody>
          <a:bodyPr anchor="t" rtlCol="false" tIns="0" lIns="0" bIns="0" rIns="0">
            <a:spAutoFit/>
          </a:bodyPr>
          <a:lstStyle/>
          <a:p>
            <a:pPr algn="just">
              <a:lnSpc>
                <a:spcPts val="3920"/>
              </a:lnSpc>
            </a:pPr>
            <a:r>
              <a:rPr lang="en-US" sz="2800">
                <a:solidFill>
                  <a:srgbClr val="353534"/>
                </a:solidFill>
                <a:latin typeface="Merriweather"/>
                <a:ea typeface="Merriweather"/>
                <a:cs typeface="Merriweather"/>
                <a:sym typeface="Merriweather"/>
                <a:hlinkClick r:id="rId6" tooltip="https://pandas.pydata.org"/>
              </a:rPr>
              <a:t>A</a:t>
            </a:r>
            <a:r>
              <a:rPr lang="en-US" sz="2800">
                <a:solidFill>
                  <a:srgbClr val="353534"/>
                </a:solidFill>
                <a:latin typeface="Merriweather"/>
                <a:ea typeface="Merriweather"/>
                <a:cs typeface="Merriweather"/>
                <a:sym typeface="Merriweather"/>
                <a:hlinkClick r:id="rId7" tooltip="https://pandas.pydata.org"/>
              </a:rPr>
              <a:t> comunicação de dados por meio de gráficos é uma das formas mais eficientes de transformar informações complexas em insights compreensíveis. Um bom gráfico não apenas apresenta dados, mas conta uma história, direciona a atenção do público e facilita a tomada de decisão. Para isso, é essencial priorizar a clareza, evitando excesso de elementos visuais e destacando apenas o que realmente importa.</a:t>
            </a:r>
          </a:p>
          <a:p>
            <a:pPr algn="just">
              <a:lnSpc>
                <a:spcPts val="3920"/>
              </a:lnSpc>
              <a:spcBef>
                <a:spcPct val="0"/>
              </a:spcBef>
            </a:pPr>
            <a:r>
              <a:rPr lang="en-US" sz="2800">
                <a:solidFill>
                  <a:srgbClr val="353534"/>
                </a:solidFill>
                <a:latin typeface="Merriweather"/>
                <a:ea typeface="Merriweather"/>
                <a:cs typeface="Merriweather"/>
                <a:sym typeface="Merriweather"/>
              </a:rPr>
              <a:t>Além disso, a estética desempenha um papel fundamental: gráficos organizados, com uso consistente de cores e tipografia adequada, tornam a interpretação mais rápida e intuitiva. Quando bem construído, um gráfico permite que o público entenda a mensagem principal em poucos segundos, sem esforço cognitivo excessivo.</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0EFE5"/>
        </a:solidFill>
      </p:bgPr>
    </p:bg>
    <p:spTree>
      <p:nvGrpSpPr>
        <p:cNvPr id="1" name=""/>
        <p:cNvGrpSpPr/>
        <p:nvPr/>
      </p:nvGrpSpPr>
      <p:grpSpPr>
        <a:xfrm>
          <a:off x="0" y="0"/>
          <a:ext cx="0" cy="0"/>
          <a:chOff x="0" y="0"/>
          <a:chExt cx="0" cy="0"/>
        </a:xfrm>
      </p:grpSpPr>
      <p:grpSp>
        <p:nvGrpSpPr>
          <p:cNvPr name="Group 2" id="2"/>
          <p:cNvGrpSpPr/>
          <p:nvPr/>
        </p:nvGrpSpPr>
        <p:grpSpPr>
          <a:xfrm rot="0">
            <a:off x="16197774" y="8764908"/>
            <a:ext cx="1061526" cy="3044184"/>
            <a:chOff x="0" y="0"/>
            <a:chExt cx="279579" cy="801760"/>
          </a:xfrm>
        </p:grpSpPr>
        <p:sp>
          <p:nvSpPr>
            <p:cNvPr name="Freeform 3" id="3"/>
            <p:cNvSpPr/>
            <p:nvPr/>
          </p:nvSpPr>
          <p:spPr>
            <a:xfrm flipH="false" flipV="false" rot="0">
              <a:off x="0" y="0"/>
              <a:ext cx="279579" cy="801760"/>
            </a:xfrm>
            <a:custGeom>
              <a:avLst/>
              <a:gdLst/>
              <a:ahLst/>
              <a:cxnLst/>
              <a:rect r="r" b="b" t="t" l="l"/>
              <a:pathLst>
                <a:path h="801760" w="279579">
                  <a:moveTo>
                    <a:pt x="139789" y="0"/>
                  </a:moveTo>
                  <a:lnTo>
                    <a:pt x="139789" y="0"/>
                  </a:lnTo>
                  <a:cubicBezTo>
                    <a:pt x="216993" y="0"/>
                    <a:pt x="279579" y="62586"/>
                    <a:pt x="279579" y="139789"/>
                  </a:cubicBezTo>
                  <a:lnTo>
                    <a:pt x="279579" y="661971"/>
                  </a:lnTo>
                  <a:cubicBezTo>
                    <a:pt x="279579" y="739175"/>
                    <a:pt x="216993" y="801760"/>
                    <a:pt x="139789" y="801760"/>
                  </a:cubicBezTo>
                  <a:lnTo>
                    <a:pt x="139789" y="801760"/>
                  </a:lnTo>
                  <a:cubicBezTo>
                    <a:pt x="62586" y="801760"/>
                    <a:pt x="0" y="739175"/>
                    <a:pt x="0" y="661971"/>
                  </a:cubicBezTo>
                  <a:lnTo>
                    <a:pt x="0" y="139789"/>
                  </a:lnTo>
                  <a:cubicBezTo>
                    <a:pt x="0" y="62586"/>
                    <a:pt x="62586" y="0"/>
                    <a:pt x="139789" y="0"/>
                  </a:cubicBezTo>
                  <a:close/>
                </a:path>
              </a:pathLst>
            </a:custGeom>
            <a:ln w="28575" cap="rnd">
              <a:solidFill>
                <a:srgbClr val="000000"/>
              </a:solidFill>
              <a:prstDash val="solid"/>
              <a:round/>
            </a:ln>
          </p:spPr>
        </p:sp>
        <p:sp>
          <p:nvSpPr>
            <p:cNvPr name="TextBox 4" id="4"/>
            <p:cNvSpPr txBox="true"/>
            <p:nvPr/>
          </p:nvSpPr>
          <p:spPr>
            <a:xfrm>
              <a:off x="0" y="-38100"/>
              <a:ext cx="279579" cy="83986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5400000">
            <a:off x="476287" y="550875"/>
            <a:ext cx="2726522" cy="2696778"/>
          </a:xfrm>
          <a:custGeom>
            <a:avLst/>
            <a:gdLst/>
            <a:ahLst/>
            <a:cxnLst/>
            <a:rect r="r" b="b" t="t" l="l"/>
            <a:pathLst>
              <a:path h="2696778" w="2726522">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6084888" y="9153907"/>
            <a:ext cx="1174412" cy="1047642"/>
          </a:xfrm>
          <a:prstGeom prst="rect">
            <a:avLst/>
          </a:prstGeom>
        </p:spPr>
        <p:txBody>
          <a:bodyPr anchor="t" rtlCol="false" tIns="0" lIns="0" bIns="0" rIns="0">
            <a:spAutoFit/>
          </a:bodyPr>
          <a:lstStyle/>
          <a:p>
            <a:pPr algn="ctr">
              <a:lnSpc>
                <a:spcPts val="4200"/>
              </a:lnSpc>
            </a:pPr>
            <a:r>
              <a:rPr lang="en-US" sz="3000">
                <a:solidFill>
                  <a:srgbClr val="353534"/>
                </a:solidFill>
                <a:latin typeface="Merriweather"/>
                <a:ea typeface="Merriweather"/>
                <a:cs typeface="Merriweather"/>
                <a:sym typeface="Merriweather"/>
              </a:rPr>
              <a:t>02</a:t>
            </a:r>
          </a:p>
          <a:p>
            <a:pPr algn="ctr">
              <a:lnSpc>
                <a:spcPts val="4200"/>
              </a:lnSpc>
              <a:spcBef>
                <a:spcPct val="0"/>
              </a:spcBef>
            </a:pPr>
          </a:p>
        </p:txBody>
      </p:sp>
      <p:sp>
        <p:nvSpPr>
          <p:cNvPr name="Freeform 7" id="7"/>
          <p:cNvSpPr/>
          <p:nvPr/>
        </p:nvSpPr>
        <p:spPr>
          <a:xfrm flipH="false" flipV="false" rot="0">
            <a:off x="495705" y="9364617"/>
            <a:ext cx="3580978" cy="296130"/>
          </a:xfrm>
          <a:custGeom>
            <a:avLst/>
            <a:gdLst/>
            <a:ahLst/>
            <a:cxnLst/>
            <a:rect r="r" b="b" t="t" l="l"/>
            <a:pathLst>
              <a:path h="296130" w="3580978">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5400000">
            <a:off x="-1294784" y="7594275"/>
            <a:ext cx="3580978" cy="296130"/>
          </a:xfrm>
          <a:custGeom>
            <a:avLst/>
            <a:gdLst/>
            <a:ahLst/>
            <a:cxnLst/>
            <a:rect r="r" b="b" t="t" l="l"/>
            <a:pathLst>
              <a:path h="296130" w="3580978">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4754979" y="536003"/>
            <a:ext cx="2726522" cy="2696778"/>
          </a:xfrm>
          <a:custGeom>
            <a:avLst/>
            <a:gdLst/>
            <a:ahLst/>
            <a:cxnLst/>
            <a:rect r="r" b="b" t="t" l="l"/>
            <a:pathLst>
              <a:path h="2696778" w="2726522">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10800000">
            <a:off x="12626322" y="9364617"/>
            <a:ext cx="3580978" cy="296130"/>
          </a:xfrm>
          <a:custGeom>
            <a:avLst/>
            <a:gdLst/>
            <a:ahLst/>
            <a:cxnLst/>
            <a:rect r="r" b="b" t="t" l="l"/>
            <a:pathLst>
              <a:path h="296130" w="3580978">
                <a:moveTo>
                  <a:pt x="0" y="0"/>
                </a:moveTo>
                <a:lnTo>
                  <a:pt x="3580977" y="0"/>
                </a:lnTo>
                <a:lnTo>
                  <a:pt x="3580977"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2433938" y="3025794"/>
            <a:ext cx="13420125" cy="4026037"/>
          </a:xfrm>
          <a:custGeom>
            <a:avLst/>
            <a:gdLst/>
            <a:ahLst/>
            <a:cxnLst/>
            <a:rect r="r" b="b" t="t" l="l"/>
            <a:pathLst>
              <a:path h="4026037" w="13420125">
                <a:moveTo>
                  <a:pt x="0" y="0"/>
                </a:moveTo>
                <a:lnTo>
                  <a:pt x="13420124" y="0"/>
                </a:lnTo>
                <a:lnTo>
                  <a:pt x="13420124" y="4026037"/>
                </a:lnTo>
                <a:lnTo>
                  <a:pt x="0" y="4026037"/>
                </a:lnTo>
                <a:lnTo>
                  <a:pt x="0" y="0"/>
                </a:lnTo>
                <a:close/>
              </a:path>
            </a:pathLst>
          </a:custGeom>
          <a:blipFill>
            <a:blip r:embed="rId6"/>
            <a:stretch>
              <a:fillRect l="0" t="0" r="0" b="0"/>
            </a:stretch>
          </a:blipFill>
        </p:spPr>
      </p:sp>
      <p:sp>
        <p:nvSpPr>
          <p:cNvPr name="TextBox 12" id="12"/>
          <p:cNvSpPr txBox="true"/>
          <p:nvPr/>
        </p:nvSpPr>
        <p:spPr>
          <a:xfrm rot="0">
            <a:off x="3952197" y="1523430"/>
            <a:ext cx="10383605" cy="1028700"/>
          </a:xfrm>
          <a:prstGeom prst="rect">
            <a:avLst/>
          </a:prstGeom>
        </p:spPr>
        <p:txBody>
          <a:bodyPr anchor="t" rtlCol="false" tIns="0" lIns="0" bIns="0" rIns="0">
            <a:spAutoFit/>
          </a:bodyPr>
          <a:lstStyle/>
          <a:p>
            <a:pPr algn="ctr">
              <a:lnSpc>
                <a:spcPts val="8400"/>
              </a:lnSpc>
              <a:spcBef>
                <a:spcPct val="0"/>
              </a:spcBef>
            </a:pPr>
            <a:r>
              <a:rPr lang="en-US" sz="6000">
                <a:solidFill>
                  <a:srgbClr val="353534"/>
                </a:solidFill>
                <a:latin typeface="Abril Fatface"/>
                <a:ea typeface="Abril Fatface"/>
                <a:cs typeface="Abril Fatface"/>
                <a:sym typeface="Abril Fatface"/>
              </a:rPr>
              <a:t> INTRODUÇÃO</a:t>
            </a:r>
          </a:p>
        </p:txBody>
      </p:sp>
      <p:sp>
        <p:nvSpPr>
          <p:cNvPr name="TextBox 13" id="13"/>
          <p:cNvSpPr txBox="true"/>
          <p:nvPr/>
        </p:nvSpPr>
        <p:spPr>
          <a:xfrm rot="0">
            <a:off x="2390117" y="7286140"/>
            <a:ext cx="13507765" cy="976630"/>
          </a:xfrm>
          <a:prstGeom prst="rect">
            <a:avLst/>
          </a:prstGeom>
        </p:spPr>
        <p:txBody>
          <a:bodyPr anchor="t" rtlCol="false" tIns="0" lIns="0" bIns="0" rIns="0">
            <a:spAutoFit/>
          </a:bodyPr>
          <a:lstStyle/>
          <a:p>
            <a:pPr algn="just">
              <a:lnSpc>
                <a:spcPts val="3920"/>
              </a:lnSpc>
              <a:spcBef>
                <a:spcPct val="0"/>
              </a:spcBef>
            </a:pPr>
            <a:r>
              <a:rPr lang="en-US" sz="2800">
                <a:solidFill>
                  <a:srgbClr val="353534"/>
                </a:solidFill>
                <a:latin typeface="Merriweather"/>
                <a:ea typeface="Merriweather"/>
                <a:cs typeface="Merriweather"/>
                <a:sym typeface="Merriweather"/>
              </a:rPr>
              <a:t>Dois gráficos podem representar a mesma coisa de formas diferentes, o que pode torná-los mais ou menos adequado para um determinado uso.</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0EFE5"/>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476287" y="550875"/>
            <a:ext cx="2726522" cy="2696778"/>
          </a:xfrm>
          <a:custGeom>
            <a:avLst/>
            <a:gdLst/>
            <a:ahLst/>
            <a:cxnLst/>
            <a:rect r="r" b="b" t="t" l="l"/>
            <a:pathLst>
              <a:path h="2696778" w="2726522">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95705" y="9364617"/>
            <a:ext cx="3580978" cy="296130"/>
          </a:xfrm>
          <a:custGeom>
            <a:avLst/>
            <a:gdLst/>
            <a:ahLst/>
            <a:cxnLst/>
            <a:rect r="r" b="b" t="t" l="l"/>
            <a:pathLst>
              <a:path h="296130" w="3580978">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294784" y="7594275"/>
            <a:ext cx="3580978" cy="296130"/>
          </a:xfrm>
          <a:custGeom>
            <a:avLst/>
            <a:gdLst/>
            <a:ahLst/>
            <a:cxnLst/>
            <a:rect r="r" b="b" t="t" l="l"/>
            <a:pathLst>
              <a:path h="296130" w="3580978">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4754979" y="536003"/>
            <a:ext cx="2726522" cy="2696778"/>
          </a:xfrm>
          <a:custGeom>
            <a:avLst/>
            <a:gdLst/>
            <a:ahLst/>
            <a:cxnLst/>
            <a:rect r="r" b="b" t="t" l="l"/>
            <a:pathLst>
              <a:path h="2696778" w="2726522">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4384178" y="1397200"/>
            <a:ext cx="9519644" cy="1028700"/>
          </a:xfrm>
          <a:prstGeom prst="rect">
            <a:avLst/>
          </a:prstGeom>
        </p:spPr>
        <p:txBody>
          <a:bodyPr anchor="t" rtlCol="false" tIns="0" lIns="0" bIns="0" rIns="0">
            <a:spAutoFit/>
          </a:bodyPr>
          <a:lstStyle/>
          <a:p>
            <a:pPr algn="ctr">
              <a:lnSpc>
                <a:spcPts val="8400"/>
              </a:lnSpc>
              <a:spcBef>
                <a:spcPct val="0"/>
              </a:spcBef>
            </a:pPr>
            <a:r>
              <a:rPr lang="en-US" sz="6000">
                <a:solidFill>
                  <a:srgbClr val="353534"/>
                </a:solidFill>
                <a:latin typeface="Abril Fatface"/>
                <a:ea typeface="Abril Fatface"/>
                <a:cs typeface="Abril Fatface"/>
                <a:sym typeface="Abril Fatface"/>
              </a:rPr>
              <a:t>MATPLOTLIB</a:t>
            </a:r>
          </a:p>
        </p:txBody>
      </p:sp>
      <p:grpSp>
        <p:nvGrpSpPr>
          <p:cNvPr name="Group 7" id="7"/>
          <p:cNvGrpSpPr/>
          <p:nvPr/>
        </p:nvGrpSpPr>
        <p:grpSpPr>
          <a:xfrm rot="0">
            <a:off x="16197774" y="8764908"/>
            <a:ext cx="1061526" cy="3044184"/>
            <a:chOff x="0" y="0"/>
            <a:chExt cx="279579" cy="801760"/>
          </a:xfrm>
        </p:grpSpPr>
        <p:sp>
          <p:nvSpPr>
            <p:cNvPr name="Freeform 8" id="8"/>
            <p:cNvSpPr/>
            <p:nvPr/>
          </p:nvSpPr>
          <p:spPr>
            <a:xfrm flipH="false" flipV="false" rot="0">
              <a:off x="0" y="0"/>
              <a:ext cx="279579" cy="801760"/>
            </a:xfrm>
            <a:custGeom>
              <a:avLst/>
              <a:gdLst/>
              <a:ahLst/>
              <a:cxnLst/>
              <a:rect r="r" b="b" t="t" l="l"/>
              <a:pathLst>
                <a:path h="801760" w="279579">
                  <a:moveTo>
                    <a:pt x="139789" y="0"/>
                  </a:moveTo>
                  <a:lnTo>
                    <a:pt x="139789" y="0"/>
                  </a:lnTo>
                  <a:cubicBezTo>
                    <a:pt x="216993" y="0"/>
                    <a:pt x="279579" y="62586"/>
                    <a:pt x="279579" y="139789"/>
                  </a:cubicBezTo>
                  <a:lnTo>
                    <a:pt x="279579" y="661971"/>
                  </a:lnTo>
                  <a:cubicBezTo>
                    <a:pt x="279579" y="739175"/>
                    <a:pt x="216993" y="801760"/>
                    <a:pt x="139789" y="801760"/>
                  </a:cubicBezTo>
                  <a:lnTo>
                    <a:pt x="139789" y="801760"/>
                  </a:lnTo>
                  <a:cubicBezTo>
                    <a:pt x="62586" y="801760"/>
                    <a:pt x="0" y="739175"/>
                    <a:pt x="0" y="661971"/>
                  </a:cubicBezTo>
                  <a:lnTo>
                    <a:pt x="0" y="139789"/>
                  </a:lnTo>
                  <a:cubicBezTo>
                    <a:pt x="0" y="62586"/>
                    <a:pt x="62586" y="0"/>
                    <a:pt x="139789" y="0"/>
                  </a:cubicBezTo>
                  <a:close/>
                </a:path>
              </a:pathLst>
            </a:custGeom>
            <a:ln w="28575" cap="rnd">
              <a:solidFill>
                <a:srgbClr val="000000"/>
              </a:solidFill>
              <a:prstDash val="solid"/>
              <a:round/>
            </a:ln>
          </p:spPr>
        </p:sp>
        <p:sp>
          <p:nvSpPr>
            <p:cNvPr name="TextBox 9" id="9"/>
            <p:cNvSpPr txBox="true"/>
            <p:nvPr/>
          </p:nvSpPr>
          <p:spPr>
            <a:xfrm>
              <a:off x="0" y="-38100"/>
              <a:ext cx="279579" cy="839860"/>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16084888" y="9153907"/>
            <a:ext cx="1174412" cy="514296"/>
          </a:xfrm>
          <a:prstGeom prst="rect">
            <a:avLst/>
          </a:prstGeom>
        </p:spPr>
        <p:txBody>
          <a:bodyPr anchor="t" rtlCol="false" tIns="0" lIns="0" bIns="0" rIns="0">
            <a:spAutoFit/>
          </a:bodyPr>
          <a:lstStyle/>
          <a:p>
            <a:pPr algn="ctr">
              <a:lnSpc>
                <a:spcPts val="4200"/>
              </a:lnSpc>
              <a:spcBef>
                <a:spcPct val="0"/>
              </a:spcBef>
            </a:pPr>
            <a:r>
              <a:rPr lang="en-US" sz="3000">
                <a:solidFill>
                  <a:srgbClr val="353534"/>
                </a:solidFill>
                <a:latin typeface="Merriweather"/>
                <a:ea typeface="Merriweather"/>
                <a:cs typeface="Merriweather"/>
                <a:sym typeface="Merriweather"/>
              </a:rPr>
              <a:t>03</a:t>
            </a:r>
          </a:p>
        </p:txBody>
      </p:sp>
      <p:sp>
        <p:nvSpPr>
          <p:cNvPr name="Freeform 11" id="11"/>
          <p:cNvSpPr/>
          <p:nvPr/>
        </p:nvSpPr>
        <p:spPr>
          <a:xfrm flipH="false" flipV="false" rot="-10800000">
            <a:off x="12626322" y="9364617"/>
            <a:ext cx="3580978" cy="296130"/>
          </a:xfrm>
          <a:custGeom>
            <a:avLst/>
            <a:gdLst/>
            <a:ahLst/>
            <a:cxnLst/>
            <a:rect r="r" b="b" t="t" l="l"/>
            <a:pathLst>
              <a:path h="296130" w="3580978">
                <a:moveTo>
                  <a:pt x="0" y="0"/>
                </a:moveTo>
                <a:lnTo>
                  <a:pt x="3580977" y="0"/>
                </a:lnTo>
                <a:lnTo>
                  <a:pt x="3580977"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2602096" y="2901868"/>
            <a:ext cx="13083808" cy="5929630"/>
          </a:xfrm>
          <a:prstGeom prst="rect">
            <a:avLst/>
          </a:prstGeom>
        </p:spPr>
        <p:txBody>
          <a:bodyPr anchor="t" rtlCol="false" tIns="0" lIns="0" bIns="0" rIns="0">
            <a:spAutoFit/>
          </a:bodyPr>
          <a:lstStyle/>
          <a:p>
            <a:pPr algn="just">
              <a:lnSpc>
                <a:spcPts val="3920"/>
              </a:lnSpc>
            </a:pPr>
            <a:r>
              <a:rPr lang="en-US" sz="2800">
                <a:solidFill>
                  <a:srgbClr val="353534"/>
                </a:solidFill>
                <a:latin typeface="Merriweather"/>
                <a:ea typeface="Merriweather"/>
                <a:cs typeface="Merriweather"/>
                <a:sym typeface="Merriweather"/>
              </a:rPr>
              <a:t>O</a:t>
            </a:r>
            <a:r>
              <a:rPr lang="en-US" sz="2800">
                <a:solidFill>
                  <a:srgbClr val="353534"/>
                </a:solidFill>
                <a:latin typeface="Merriweather"/>
                <a:ea typeface="Merriweather"/>
                <a:cs typeface="Merriweather"/>
                <a:sym typeface="Merriweather"/>
              </a:rPr>
              <a:t> Matplotlib é uma das bibliotecas mais tradicionais e amplamente utilizadas para criação de gráficos em Python. Ele oferece uma base sólida para a construção de visualizações, permitindo desde gráficos simples até representações altamente personalizadas. Sua popularidade se deve principalmente à flexibilidade e ao controle detalhado que proporciona ao usuário.</a:t>
            </a:r>
          </a:p>
          <a:p>
            <a:pPr algn="just">
              <a:lnSpc>
                <a:spcPts val="3920"/>
              </a:lnSpc>
            </a:pPr>
            <a:r>
              <a:rPr lang="en-US" sz="2800">
                <a:solidFill>
                  <a:srgbClr val="353534"/>
                </a:solidFill>
                <a:latin typeface="Merriweather"/>
                <a:ea typeface="Merriweather"/>
                <a:cs typeface="Merriweather"/>
                <a:sym typeface="Merriweather"/>
              </a:rPr>
              <a:t>A estrutura do Matplotlib é baseada na chamada anatomia do gráfico, que inclui elementos como figura, eixos, dados e componentes auxiliares. Entender essa estrutura é essencial para criar gráficos bem organizados e funcionais. Cada elemento pode ser ajustado individualmente, permitindo uma personalização completa de acordo com o objetivo da análise.</a:t>
            </a:r>
          </a:p>
          <a:p>
            <a:pPr algn="just">
              <a:lnSpc>
                <a:spcPts val="3920"/>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0EFE5"/>
        </a:solidFill>
      </p:bgPr>
    </p:bg>
    <p:spTree>
      <p:nvGrpSpPr>
        <p:cNvPr id="1" name=""/>
        <p:cNvGrpSpPr/>
        <p:nvPr/>
      </p:nvGrpSpPr>
      <p:grpSpPr>
        <a:xfrm>
          <a:off x="0" y="0"/>
          <a:ext cx="0" cy="0"/>
          <a:chOff x="0" y="0"/>
          <a:chExt cx="0" cy="0"/>
        </a:xfrm>
      </p:grpSpPr>
      <p:grpSp>
        <p:nvGrpSpPr>
          <p:cNvPr name="Group 2" id="2"/>
          <p:cNvGrpSpPr/>
          <p:nvPr/>
        </p:nvGrpSpPr>
        <p:grpSpPr>
          <a:xfrm rot="0">
            <a:off x="16197774" y="8764908"/>
            <a:ext cx="1061526" cy="3044184"/>
            <a:chOff x="0" y="0"/>
            <a:chExt cx="279579" cy="801760"/>
          </a:xfrm>
        </p:grpSpPr>
        <p:sp>
          <p:nvSpPr>
            <p:cNvPr name="Freeform 3" id="3"/>
            <p:cNvSpPr/>
            <p:nvPr/>
          </p:nvSpPr>
          <p:spPr>
            <a:xfrm flipH="false" flipV="false" rot="0">
              <a:off x="0" y="0"/>
              <a:ext cx="279579" cy="801760"/>
            </a:xfrm>
            <a:custGeom>
              <a:avLst/>
              <a:gdLst/>
              <a:ahLst/>
              <a:cxnLst/>
              <a:rect r="r" b="b" t="t" l="l"/>
              <a:pathLst>
                <a:path h="801760" w="279579">
                  <a:moveTo>
                    <a:pt x="139789" y="0"/>
                  </a:moveTo>
                  <a:lnTo>
                    <a:pt x="139789" y="0"/>
                  </a:lnTo>
                  <a:cubicBezTo>
                    <a:pt x="216993" y="0"/>
                    <a:pt x="279579" y="62586"/>
                    <a:pt x="279579" y="139789"/>
                  </a:cubicBezTo>
                  <a:lnTo>
                    <a:pt x="279579" y="661971"/>
                  </a:lnTo>
                  <a:cubicBezTo>
                    <a:pt x="279579" y="739175"/>
                    <a:pt x="216993" y="801760"/>
                    <a:pt x="139789" y="801760"/>
                  </a:cubicBezTo>
                  <a:lnTo>
                    <a:pt x="139789" y="801760"/>
                  </a:lnTo>
                  <a:cubicBezTo>
                    <a:pt x="62586" y="801760"/>
                    <a:pt x="0" y="739175"/>
                    <a:pt x="0" y="661971"/>
                  </a:cubicBezTo>
                  <a:lnTo>
                    <a:pt x="0" y="139789"/>
                  </a:lnTo>
                  <a:cubicBezTo>
                    <a:pt x="0" y="62586"/>
                    <a:pt x="62586" y="0"/>
                    <a:pt x="139789" y="0"/>
                  </a:cubicBezTo>
                  <a:close/>
                </a:path>
              </a:pathLst>
            </a:custGeom>
            <a:ln w="28575" cap="rnd">
              <a:solidFill>
                <a:srgbClr val="000000"/>
              </a:solidFill>
              <a:prstDash val="solid"/>
              <a:round/>
            </a:ln>
          </p:spPr>
        </p:sp>
        <p:sp>
          <p:nvSpPr>
            <p:cNvPr name="TextBox 4" id="4"/>
            <p:cNvSpPr txBox="true"/>
            <p:nvPr/>
          </p:nvSpPr>
          <p:spPr>
            <a:xfrm>
              <a:off x="0" y="-38100"/>
              <a:ext cx="279579" cy="83986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5400000">
            <a:off x="476287" y="550875"/>
            <a:ext cx="2726522" cy="2696778"/>
          </a:xfrm>
          <a:custGeom>
            <a:avLst/>
            <a:gdLst/>
            <a:ahLst/>
            <a:cxnLst/>
            <a:rect r="r" b="b" t="t" l="l"/>
            <a:pathLst>
              <a:path h="2696778" w="2726522">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6084888" y="9153907"/>
            <a:ext cx="1174412" cy="1047642"/>
          </a:xfrm>
          <a:prstGeom prst="rect">
            <a:avLst/>
          </a:prstGeom>
        </p:spPr>
        <p:txBody>
          <a:bodyPr anchor="t" rtlCol="false" tIns="0" lIns="0" bIns="0" rIns="0">
            <a:spAutoFit/>
          </a:bodyPr>
          <a:lstStyle/>
          <a:p>
            <a:pPr algn="ctr">
              <a:lnSpc>
                <a:spcPts val="4200"/>
              </a:lnSpc>
            </a:pPr>
            <a:r>
              <a:rPr lang="en-US" sz="3000">
                <a:solidFill>
                  <a:srgbClr val="353534"/>
                </a:solidFill>
                <a:latin typeface="Merriweather"/>
                <a:ea typeface="Merriweather"/>
                <a:cs typeface="Merriweather"/>
                <a:sym typeface="Merriweather"/>
              </a:rPr>
              <a:t>04</a:t>
            </a:r>
          </a:p>
          <a:p>
            <a:pPr algn="ctr">
              <a:lnSpc>
                <a:spcPts val="4200"/>
              </a:lnSpc>
              <a:spcBef>
                <a:spcPct val="0"/>
              </a:spcBef>
            </a:pPr>
          </a:p>
        </p:txBody>
      </p:sp>
      <p:sp>
        <p:nvSpPr>
          <p:cNvPr name="Freeform 7" id="7"/>
          <p:cNvSpPr/>
          <p:nvPr/>
        </p:nvSpPr>
        <p:spPr>
          <a:xfrm flipH="false" flipV="false" rot="0">
            <a:off x="495705" y="9364617"/>
            <a:ext cx="3580978" cy="296130"/>
          </a:xfrm>
          <a:custGeom>
            <a:avLst/>
            <a:gdLst/>
            <a:ahLst/>
            <a:cxnLst/>
            <a:rect r="r" b="b" t="t" l="l"/>
            <a:pathLst>
              <a:path h="296130" w="3580978">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5400000">
            <a:off x="-1294784" y="7594275"/>
            <a:ext cx="3580978" cy="296130"/>
          </a:xfrm>
          <a:custGeom>
            <a:avLst/>
            <a:gdLst/>
            <a:ahLst/>
            <a:cxnLst/>
            <a:rect r="r" b="b" t="t" l="l"/>
            <a:pathLst>
              <a:path h="296130" w="3580978">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4754979" y="536003"/>
            <a:ext cx="2726522" cy="2696778"/>
          </a:xfrm>
          <a:custGeom>
            <a:avLst/>
            <a:gdLst/>
            <a:ahLst/>
            <a:cxnLst/>
            <a:rect r="r" b="b" t="t" l="l"/>
            <a:pathLst>
              <a:path h="2696778" w="2726522">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3942672" y="1434200"/>
            <a:ext cx="10383605" cy="1028700"/>
          </a:xfrm>
          <a:prstGeom prst="rect">
            <a:avLst/>
          </a:prstGeom>
        </p:spPr>
        <p:txBody>
          <a:bodyPr anchor="t" rtlCol="false" tIns="0" lIns="0" bIns="0" rIns="0">
            <a:spAutoFit/>
          </a:bodyPr>
          <a:lstStyle/>
          <a:p>
            <a:pPr algn="ctr">
              <a:lnSpc>
                <a:spcPts val="8400"/>
              </a:lnSpc>
              <a:spcBef>
                <a:spcPct val="0"/>
              </a:spcBef>
            </a:pPr>
            <a:r>
              <a:rPr lang="en-US" sz="6000">
                <a:solidFill>
                  <a:srgbClr val="353534"/>
                </a:solidFill>
                <a:latin typeface="Abril Fatface"/>
                <a:ea typeface="Abril Fatface"/>
                <a:cs typeface="Abril Fatface"/>
                <a:sym typeface="Abril Fatface"/>
              </a:rPr>
              <a:t>MATPLOTLIB</a:t>
            </a:r>
          </a:p>
        </p:txBody>
      </p:sp>
      <p:sp>
        <p:nvSpPr>
          <p:cNvPr name="Freeform 11" id="11"/>
          <p:cNvSpPr/>
          <p:nvPr/>
        </p:nvSpPr>
        <p:spPr>
          <a:xfrm flipH="false" flipV="false" rot="-10800000">
            <a:off x="12626322" y="9364617"/>
            <a:ext cx="3580978" cy="296130"/>
          </a:xfrm>
          <a:custGeom>
            <a:avLst/>
            <a:gdLst/>
            <a:ahLst/>
            <a:cxnLst/>
            <a:rect r="r" b="b" t="t" l="l"/>
            <a:pathLst>
              <a:path h="296130" w="3580978">
                <a:moveTo>
                  <a:pt x="0" y="0"/>
                </a:moveTo>
                <a:lnTo>
                  <a:pt x="3580977" y="0"/>
                </a:lnTo>
                <a:lnTo>
                  <a:pt x="3580977"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2" id="12"/>
          <p:cNvGrpSpPr/>
          <p:nvPr/>
        </p:nvGrpSpPr>
        <p:grpSpPr>
          <a:xfrm rot="0">
            <a:off x="1624286" y="3604398"/>
            <a:ext cx="15039428" cy="4979035"/>
            <a:chOff x="0" y="0"/>
            <a:chExt cx="20052571" cy="6638713"/>
          </a:xfrm>
        </p:grpSpPr>
        <p:sp>
          <p:nvSpPr>
            <p:cNvPr name="TextBox 13" id="13"/>
            <p:cNvSpPr txBox="true"/>
            <p:nvPr/>
          </p:nvSpPr>
          <p:spPr>
            <a:xfrm rot="0">
              <a:off x="0" y="-57150"/>
              <a:ext cx="9367022" cy="6695863"/>
            </a:xfrm>
            <a:prstGeom prst="rect">
              <a:avLst/>
            </a:prstGeom>
          </p:spPr>
          <p:txBody>
            <a:bodyPr anchor="t" rtlCol="false" tIns="0" lIns="0" bIns="0" rIns="0">
              <a:spAutoFit/>
            </a:bodyPr>
            <a:lstStyle/>
            <a:p>
              <a:pPr algn="ctr">
                <a:lnSpc>
                  <a:spcPts val="4759"/>
                </a:lnSpc>
              </a:pPr>
              <a:r>
                <a:rPr lang="en-US" sz="3399">
                  <a:solidFill>
                    <a:srgbClr val="353534"/>
                  </a:solidFill>
                  <a:latin typeface="Merriweather"/>
                  <a:ea typeface="Merriweather"/>
                  <a:cs typeface="Merriweather"/>
                  <a:sym typeface="Merriweather"/>
                </a:rPr>
                <a:t>Anatomia do Gráfico</a:t>
              </a:r>
            </a:p>
            <a:p>
              <a:pPr algn="just">
                <a:lnSpc>
                  <a:spcPts val="3920"/>
                </a:lnSpc>
                <a:spcBef>
                  <a:spcPct val="0"/>
                </a:spcBef>
              </a:pPr>
              <a:r>
                <a:rPr lang="en-US" sz="2800">
                  <a:solidFill>
                    <a:srgbClr val="353534"/>
                  </a:solidFill>
                  <a:latin typeface="Merriweather"/>
                  <a:ea typeface="Merriweather"/>
                  <a:cs typeface="Merriweather"/>
                  <a:sym typeface="Merriweather"/>
                </a:rPr>
                <a:t>Tudo começa com a figure (área total do gráfico), que pode conter um ou mais axes (eixos onde os dados são plotados). Dentro desses eixos, são acicionados os dados e outros elementos como títulos, legendas e rótulos. Entender essa estrutura é essencial, porque é ela que permite organizar as visualizações e evitar gráficos confusos.</a:t>
              </a:r>
            </a:p>
          </p:txBody>
        </p:sp>
        <p:sp>
          <p:nvSpPr>
            <p:cNvPr name="TextBox 14" id="14"/>
            <p:cNvSpPr txBox="true"/>
            <p:nvPr/>
          </p:nvSpPr>
          <p:spPr>
            <a:xfrm rot="0">
              <a:off x="10685549" y="-57150"/>
              <a:ext cx="9367022" cy="6035463"/>
            </a:xfrm>
            <a:prstGeom prst="rect">
              <a:avLst/>
            </a:prstGeom>
          </p:spPr>
          <p:txBody>
            <a:bodyPr anchor="t" rtlCol="false" tIns="0" lIns="0" bIns="0" rIns="0">
              <a:spAutoFit/>
            </a:bodyPr>
            <a:lstStyle/>
            <a:p>
              <a:pPr algn="ctr">
                <a:lnSpc>
                  <a:spcPts val="4759"/>
                </a:lnSpc>
              </a:pPr>
              <a:r>
                <a:rPr lang="en-US" sz="3399">
                  <a:solidFill>
                    <a:srgbClr val="353534"/>
                  </a:solidFill>
                  <a:latin typeface="Merriweather"/>
                  <a:ea typeface="Merriweather"/>
                  <a:cs typeface="Merriweather"/>
                  <a:sym typeface="Merriweather"/>
                </a:rPr>
                <a:t>Customização do Gráfico</a:t>
              </a:r>
            </a:p>
            <a:p>
              <a:pPr algn="just">
                <a:lnSpc>
                  <a:spcPts val="3920"/>
                </a:lnSpc>
                <a:spcBef>
                  <a:spcPct val="0"/>
                </a:spcBef>
              </a:pPr>
              <a:r>
                <a:rPr lang="en-US" sz="2800">
                  <a:solidFill>
                    <a:srgbClr val="353534"/>
                  </a:solidFill>
                  <a:latin typeface="Merriweather"/>
                  <a:ea typeface="Merriweather"/>
                  <a:cs typeface="Merriweather"/>
                  <a:sym typeface="Merriweather"/>
                </a:rPr>
                <a:t>V</a:t>
              </a:r>
              <a:r>
                <a:rPr lang="en-US" sz="2800">
                  <a:solidFill>
                    <a:srgbClr val="353534"/>
                  </a:solidFill>
                  <a:latin typeface="Merriweather"/>
                  <a:ea typeface="Merriweather"/>
                  <a:cs typeface="Merriweather"/>
                  <a:sym typeface="Merriweather"/>
                </a:rPr>
                <a:t>ocê pode controlar praticamente tudo: cores, estilos de linha, espessura, tipos de marcador, fontes, espaçamento e muito mais. Além disso, é possível ajustar os eixos com precisão: definindo limites, alterando escalas (como linear ou logarítmica) e personalizando os rótulos.</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0EFE5"/>
        </a:solidFill>
      </p:bgPr>
    </p:bg>
    <p:spTree>
      <p:nvGrpSpPr>
        <p:cNvPr id="1" name=""/>
        <p:cNvGrpSpPr/>
        <p:nvPr/>
      </p:nvGrpSpPr>
      <p:grpSpPr>
        <a:xfrm>
          <a:off x="0" y="0"/>
          <a:ext cx="0" cy="0"/>
          <a:chOff x="0" y="0"/>
          <a:chExt cx="0" cy="0"/>
        </a:xfrm>
      </p:grpSpPr>
      <p:grpSp>
        <p:nvGrpSpPr>
          <p:cNvPr name="Group 2" id="2"/>
          <p:cNvGrpSpPr/>
          <p:nvPr/>
        </p:nvGrpSpPr>
        <p:grpSpPr>
          <a:xfrm rot="0">
            <a:off x="16197774" y="8764908"/>
            <a:ext cx="1061526" cy="3044184"/>
            <a:chOff x="0" y="0"/>
            <a:chExt cx="279579" cy="801760"/>
          </a:xfrm>
        </p:grpSpPr>
        <p:sp>
          <p:nvSpPr>
            <p:cNvPr name="Freeform 3" id="3"/>
            <p:cNvSpPr/>
            <p:nvPr/>
          </p:nvSpPr>
          <p:spPr>
            <a:xfrm flipH="false" flipV="false" rot="0">
              <a:off x="0" y="0"/>
              <a:ext cx="279579" cy="801760"/>
            </a:xfrm>
            <a:custGeom>
              <a:avLst/>
              <a:gdLst/>
              <a:ahLst/>
              <a:cxnLst/>
              <a:rect r="r" b="b" t="t" l="l"/>
              <a:pathLst>
                <a:path h="801760" w="279579">
                  <a:moveTo>
                    <a:pt x="139789" y="0"/>
                  </a:moveTo>
                  <a:lnTo>
                    <a:pt x="139789" y="0"/>
                  </a:lnTo>
                  <a:cubicBezTo>
                    <a:pt x="216993" y="0"/>
                    <a:pt x="279579" y="62586"/>
                    <a:pt x="279579" y="139789"/>
                  </a:cubicBezTo>
                  <a:lnTo>
                    <a:pt x="279579" y="661971"/>
                  </a:lnTo>
                  <a:cubicBezTo>
                    <a:pt x="279579" y="739175"/>
                    <a:pt x="216993" y="801760"/>
                    <a:pt x="139789" y="801760"/>
                  </a:cubicBezTo>
                  <a:lnTo>
                    <a:pt x="139789" y="801760"/>
                  </a:lnTo>
                  <a:cubicBezTo>
                    <a:pt x="62586" y="801760"/>
                    <a:pt x="0" y="739175"/>
                    <a:pt x="0" y="661971"/>
                  </a:cubicBezTo>
                  <a:lnTo>
                    <a:pt x="0" y="139789"/>
                  </a:lnTo>
                  <a:cubicBezTo>
                    <a:pt x="0" y="62586"/>
                    <a:pt x="62586" y="0"/>
                    <a:pt x="139789" y="0"/>
                  </a:cubicBezTo>
                  <a:close/>
                </a:path>
              </a:pathLst>
            </a:custGeom>
            <a:ln w="28575" cap="rnd">
              <a:solidFill>
                <a:srgbClr val="000000"/>
              </a:solidFill>
              <a:prstDash val="solid"/>
              <a:round/>
            </a:ln>
          </p:spPr>
        </p:sp>
        <p:sp>
          <p:nvSpPr>
            <p:cNvPr name="TextBox 4" id="4"/>
            <p:cNvSpPr txBox="true"/>
            <p:nvPr/>
          </p:nvSpPr>
          <p:spPr>
            <a:xfrm>
              <a:off x="0" y="-38100"/>
              <a:ext cx="279579" cy="83986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5400000">
            <a:off x="476287" y="550875"/>
            <a:ext cx="2726522" cy="2696778"/>
          </a:xfrm>
          <a:custGeom>
            <a:avLst/>
            <a:gdLst/>
            <a:ahLst/>
            <a:cxnLst/>
            <a:rect r="r" b="b" t="t" l="l"/>
            <a:pathLst>
              <a:path h="2696778" w="2726522">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6084888" y="9153907"/>
            <a:ext cx="1174412" cy="1047642"/>
          </a:xfrm>
          <a:prstGeom prst="rect">
            <a:avLst/>
          </a:prstGeom>
        </p:spPr>
        <p:txBody>
          <a:bodyPr anchor="t" rtlCol="false" tIns="0" lIns="0" bIns="0" rIns="0">
            <a:spAutoFit/>
          </a:bodyPr>
          <a:lstStyle/>
          <a:p>
            <a:pPr algn="ctr">
              <a:lnSpc>
                <a:spcPts val="4200"/>
              </a:lnSpc>
            </a:pPr>
            <a:r>
              <a:rPr lang="en-US" sz="3000">
                <a:solidFill>
                  <a:srgbClr val="353534"/>
                </a:solidFill>
                <a:latin typeface="Merriweather"/>
                <a:ea typeface="Merriweather"/>
                <a:cs typeface="Merriweather"/>
                <a:sym typeface="Merriweather"/>
              </a:rPr>
              <a:t>05</a:t>
            </a:r>
          </a:p>
          <a:p>
            <a:pPr algn="ctr">
              <a:lnSpc>
                <a:spcPts val="4200"/>
              </a:lnSpc>
              <a:spcBef>
                <a:spcPct val="0"/>
              </a:spcBef>
            </a:pPr>
          </a:p>
        </p:txBody>
      </p:sp>
      <p:sp>
        <p:nvSpPr>
          <p:cNvPr name="Freeform 7" id="7"/>
          <p:cNvSpPr/>
          <p:nvPr/>
        </p:nvSpPr>
        <p:spPr>
          <a:xfrm flipH="false" flipV="false" rot="0">
            <a:off x="495705" y="9364617"/>
            <a:ext cx="3580978" cy="296130"/>
          </a:xfrm>
          <a:custGeom>
            <a:avLst/>
            <a:gdLst/>
            <a:ahLst/>
            <a:cxnLst/>
            <a:rect r="r" b="b" t="t" l="l"/>
            <a:pathLst>
              <a:path h="296130" w="3580978">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5400000">
            <a:off x="-1294784" y="7594275"/>
            <a:ext cx="3580978" cy="296130"/>
          </a:xfrm>
          <a:custGeom>
            <a:avLst/>
            <a:gdLst/>
            <a:ahLst/>
            <a:cxnLst/>
            <a:rect r="r" b="b" t="t" l="l"/>
            <a:pathLst>
              <a:path h="296130" w="3580978">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4754979" y="536003"/>
            <a:ext cx="2726522" cy="2696778"/>
          </a:xfrm>
          <a:custGeom>
            <a:avLst/>
            <a:gdLst/>
            <a:ahLst/>
            <a:cxnLst/>
            <a:rect r="r" b="b" t="t" l="l"/>
            <a:pathLst>
              <a:path h="2696778" w="2726522">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3952197" y="1481825"/>
            <a:ext cx="10383605" cy="1028700"/>
          </a:xfrm>
          <a:prstGeom prst="rect">
            <a:avLst/>
          </a:prstGeom>
        </p:spPr>
        <p:txBody>
          <a:bodyPr anchor="t" rtlCol="false" tIns="0" lIns="0" bIns="0" rIns="0">
            <a:spAutoFit/>
          </a:bodyPr>
          <a:lstStyle/>
          <a:p>
            <a:pPr algn="ctr">
              <a:lnSpc>
                <a:spcPts val="8400"/>
              </a:lnSpc>
              <a:spcBef>
                <a:spcPct val="0"/>
              </a:spcBef>
            </a:pPr>
            <a:r>
              <a:rPr lang="en-US" sz="6000">
                <a:solidFill>
                  <a:srgbClr val="353534"/>
                </a:solidFill>
                <a:latin typeface="Abril Fatface"/>
                <a:ea typeface="Abril Fatface"/>
                <a:cs typeface="Abril Fatface"/>
                <a:sym typeface="Abril Fatface"/>
              </a:rPr>
              <a:t>SEABORN</a:t>
            </a:r>
          </a:p>
        </p:txBody>
      </p:sp>
      <p:sp>
        <p:nvSpPr>
          <p:cNvPr name="Freeform 11" id="11"/>
          <p:cNvSpPr/>
          <p:nvPr/>
        </p:nvSpPr>
        <p:spPr>
          <a:xfrm flipH="false" flipV="false" rot="-10800000">
            <a:off x="12626322" y="9364617"/>
            <a:ext cx="3580978" cy="296130"/>
          </a:xfrm>
          <a:custGeom>
            <a:avLst/>
            <a:gdLst/>
            <a:ahLst/>
            <a:cxnLst/>
            <a:rect r="r" b="b" t="t" l="l"/>
            <a:pathLst>
              <a:path h="296130" w="3580978">
                <a:moveTo>
                  <a:pt x="0" y="0"/>
                </a:moveTo>
                <a:lnTo>
                  <a:pt x="3580977" y="0"/>
                </a:lnTo>
                <a:lnTo>
                  <a:pt x="3580977"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2390117" y="3051806"/>
            <a:ext cx="13507765" cy="5929630"/>
          </a:xfrm>
          <a:prstGeom prst="rect">
            <a:avLst/>
          </a:prstGeom>
        </p:spPr>
        <p:txBody>
          <a:bodyPr anchor="t" rtlCol="false" tIns="0" lIns="0" bIns="0" rIns="0">
            <a:spAutoFit/>
          </a:bodyPr>
          <a:lstStyle/>
          <a:p>
            <a:pPr algn="l">
              <a:lnSpc>
                <a:spcPts val="3919"/>
              </a:lnSpc>
            </a:pPr>
            <a:r>
              <a:rPr lang="en-US" sz="2799">
                <a:solidFill>
                  <a:srgbClr val="353534"/>
                </a:solidFill>
                <a:latin typeface="Merriweather"/>
                <a:ea typeface="Merriweather"/>
                <a:cs typeface="Merriweather"/>
                <a:sym typeface="Merriweather"/>
              </a:rPr>
              <a:t>O Seaborn é uma biblioteca de visualização de dados em Python construída sobre o Matplotlib, mas com um foco em análise estatística e estética. Ele foi criado para facilitar a criação de gráficos mais sofisticados com menos código, oferecendo visualização mais moderna e agradável. Isso permite que mesmo usuários iniciantes consigam produzir gráficos profissionais rapidamente.</a:t>
            </a:r>
          </a:p>
          <a:p>
            <a:pPr algn="l">
              <a:lnSpc>
                <a:spcPts val="3919"/>
              </a:lnSpc>
            </a:pPr>
            <a:r>
              <a:rPr lang="en-US" sz="2799">
                <a:solidFill>
                  <a:srgbClr val="353534"/>
                </a:solidFill>
                <a:latin typeface="Merriweather"/>
                <a:ea typeface="Merriweather"/>
                <a:cs typeface="Merriweather"/>
                <a:sym typeface="Merriweather"/>
              </a:rPr>
              <a:t>Uma das principais vantagens do Seaborn é sua integração direta com estruturas de dados, especialmente DataFrames do Pandas. Em vez de exigir manipulações complexas, ele trabalha naturalmente com dados organizados em formato de tabela, permitindo criar gráficos diretamente a partir de colunas. Além disso, ele entende automaticamente variáveis categóricas e numéricas, o que simplifica bastante o processo de visualização</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0EFE5"/>
        </a:solidFill>
      </p:bgPr>
    </p:bg>
    <p:spTree>
      <p:nvGrpSpPr>
        <p:cNvPr id="1" name=""/>
        <p:cNvGrpSpPr/>
        <p:nvPr/>
      </p:nvGrpSpPr>
      <p:grpSpPr>
        <a:xfrm>
          <a:off x="0" y="0"/>
          <a:ext cx="0" cy="0"/>
          <a:chOff x="0" y="0"/>
          <a:chExt cx="0" cy="0"/>
        </a:xfrm>
      </p:grpSpPr>
      <p:grpSp>
        <p:nvGrpSpPr>
          <p:cNvPr name="Group 2" id="2"/>
          <p:cNvGrpSpPr/>
          <p:nvPr/>
        </p:nvGrpSpPr>
        <p:grpSpPr>
          <a:xfrm rot="0">
            <a:off x="16197774" y="8764908"/>
            <a:ext cx="1061526" cy="3044184"/>
            <a:chOff x="0" y="0"/>
            <a:chExt cx="279579" cy="801760"/>
          </a:xfrm>
        </p:grpSpPr>
        <p:sp>
          <p:nvSpPr>
            <p:cNvPr name="Freeform 3" id="3"/>
            <p:cNvSpPr/>
            <p:nvPr/>
          </p:nvSpPr>
          <p:spPr>
            <a:xfrm flipH="false" flipV="false" rot="0">
              <a:off x="0" y="0"/>
              <a:ext cx="279579" cy="801760"/>
            </a:xfrm>
            <a:custGeom>
              <a:avLst/>
              <a:gdLst/>
              <a:ahLst/>
              <a:cxnLst/>
              <a:rect r="r" b="b" t="t" l="l"/>
              <a:pathLst>
                <a:path h="801760" w="279579">
                  <a:moveTo>
                    <a:pt x="139789" y="0"/>
                  </a:moveTo>
                  <a:lnTo>
                    <a:pt x="139789" y="0"/>
                  </a:lnTo>
                  <a:cubicBezTo>
                    <a:pt x="216993" y="0"/>
                    <a:pt x="279579" y="62586"/>
                    <a:pt x="279579" y="139789"/>
                  </a:cubicBezTo>
                  <a:lnTo>
                    <a:pt x="279579" y="661971"/>
                  </a:lnTo>
                  <a:cubicBezTo>
                    <a:pt x="279579" y="739175"/>
                    <a:pt x="216993" y="801760"/>
                    <a:pt x="139789" y="801760"/>
                  </a:cubicBezTo>
                  <a:lnTo>
                    <a:pt x="139789" y="801760"/>
                  </a:lnTo>
                  <a:cubicBezTo>
                    <a:pt x="62586" y="801760"/>
                    <a:pt x="0" y="739175"/>
                    <a:pt x="0" y="661971"/>
                  </a:cubicBezTo>
                  <a:lnTo>
                    <a:pt x="0" y="139789"/>
                  </a:lnTo>
                  <a:cubicBezTo>
                    <a:pt x="0" y="62586"/>
                    <a:pt x="62586" y="0"/>
                    <a:pt x="139789" y="0"/>
                  </a:cubicBezTo>
                  <a:close/>
                </a:path>
              </a:pathLst>
            </a:custGeom>
            <a:ln w="28575" cap="rnd">
              <a:solidFill>
                <a:srgbClr val="000000"/>
              </a:solidFill>
              <a:prstDash val="solid"/>
              <a:round/>
            </a:ln>
          </p:spPr>
        </p:sp>
        <p:sp>
          <p:nvSpPr>
            <p:cNvPr name="TextBox 4" id="4"/>
            <p:cNvSpPr txBox="true"/>
            <p:nvPr/>
          </p:nvSpPr>
          <p:spPr>
            <a:xfrm>
              <a:off x="0" y="-38100"/>
              <a:ext cx="279579" cy="83986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5400000">
            <a:off x="476287" y="550875"/>
            <a:ext cx="2726522" cy="2696778"/>
          </a:xfrm>
          <a:custGeom>
            <a:avLst/>
            <a:gdLst/>
            <a:ahLst/>
            <a:cxnLst/>
            <a:rect r="r" b="b" t="t" l="l"/>
            <a:pathLst>
              <a:path h="2696778" w="2726522">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6084888" y="9153907"/>
            <a:ext cx="1174412" cy="1047642"/>
          </a:xfrm>
          <a:prstGeom prst="rect">
            <a:avLst/>
          </a:prstGeom>
        </p:spPr>
        <p:txBody>
          <a:bodyPr anchor="t" rtlCol="false" tIns="0" lIns="0" bIns="0" rIns="0">
            <a:spAutoFit/>
          </a:bodyPr>
          <a:lstStyle/>
          <a:p>
            <a:pPr algn="ctr">
              <a:lnSpc>
                <a:spcPts val="4200"/>
              </a:lnSpc>
            </a:pPr>
            <a:r>
              <a:rPr lang="en-US" sz="3000">
                <a:solidFill>
                  <a:srgbClr val="353534"/>
                </a:solidFill>
                <a:latin typeface="Merriweather"/>
                <a:ea typeface="Merriweather"/>
                <a:cs typeface="Merriweather"/>
                <a:sym typeface="Merriweather"/>
              </a:rPr>
              <a:t>06</a:t>
            </a:r>
          </a:p>
          <a:p>
            <a:pPr algn="ctr">
              <a:lnSpc>
                <a:spcPts val="4200"/>
              </a:lnSpc>
              <a:spcBef>
                <a:spcPct val="0"/>
              </a:spcBef>
            </a:pPr>
          </a:p>
        </p:txBody>
      </p:sp>
      <p:sp>
        <p:nvSpPr>
          <p:cNvPr name="Freeform 7" id="7"/>
          <p:cNvSpPr/>
          <p:nvPr/>
        </p:nvSpPr>
        <p:spPr>
          <a:xfrm flipH="false" flipV="false" rot="0">
            <a:off x="495705" y="9364617"/>
            <a:ext cx="3580978" cy="296130"/>
          </a:xfrm>
          <a:custGeom>
            <a:avLst/>
            <a:gdLst/>
            <a:ahLst/>
            <a:cxnLst/>
            <a:rect r="r" b="b" t="t" l="l"/>
            <a:pathLst>
              <a:path h="296130" w="3580978">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5400000">
            <a:off x="-1294784" y="7594275"/>
            <a:ext cx="3580978" cy="296130"/>
          </a:xfrm>
          <a:custGeom>
            <a:avLst/>
            <a:gdLst/>
            <a:ahLst/>
            <a:cxnLst/>
            <a:rect r="r" b="b" t="t" l="l"/>
            <a:pathLst>
              <a:path h="296130" w="3580978">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4754979" y="536003"/>
            <a:ext cx="2726522" cy="2696778"/>
          </a:xfrm>
          <a:custGeom>
            <a:avLst/>
            <a:gdLst/>
            <a:ahLst/>
            <a:cxnLst/>
            <a:rect r="r" b="b" t="t" l="l"/>
            <a:pathLst>
              <a:path h="2696778" w="2726522">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3952197" y="1481825"/>
            <a:ext cx="10383605" cy="1028700"/>
          </a:xfrm>
          <a:prstGeom prst="rect">
            <a:avLst/>
          </a:prstGeom>
        </p:spPr>
        <p:txBody>
          <a:bodyPr anchor="t" rtlCol="false" tIns="0" lIns="0" bIns="0" rIns="0">
            <a:spAutoFit/>
          </a:bodyPr>
          <a:lstStyle/>
          <a:p>
            <a:pPr algn="ctr">
              <a:lnSpc>
                <a:spcPts val="8400"/>
              </a:lnSpc>
              <a:spcBef>
                <a:spcPct val="0"/>
              </a:spcBef>
            </a:pPr>
            <a:r>
              <a:rPr lang="en-US" sz="6000">
                <a:solidFill>
                  <a:srgbClr val="353534"/>
                </a:solidFill>
                <a:latin typeface="Abril Fatface"/>
                <a:ea typeface="Abril Fatface"/>
                <a:cs typeface="Abril Fatface"/>
                <a:sym typeface="Abril Fatface"/>
              </a:rPr>
              <a:t>SEABORN</a:t>
            </a:r>
          </a:p>
        </p:txBody>
      </p:sp>
      <p:sp>
        <p:nvSpPr>
          <p:cNvPr name="Freeform 11" id="11"/>
          <p:cNvSpPr/>
          <p:nvPr/>
        </p:nvSpPr>
        <p:spPr>
          <a:xfrm flipH="false" flipV="false" rot="-10800000">
            <a:off x="12626322" y="9364617"/>
            <a:ext cx="3580978" cy="296130"/>
          </a:xfrm>
          <a:custGeom>
            <a:avLst/>
            <a:gdLst/>
            <a:ahLst/>
            <a:cxnLst/>
            <a:rect r="r" b="b" t="t" l="l"/>
            <a:pathLst>
              <a:path h="296130" w="3580978">
                <a:moveTo>
                  <a:pt x="0" y="0"/>
                </a:moveTo>
                <a:lnTo>
                  <a:pt x="3580977" y="0"/>
                </a:lnTo>
                <a:lnTo>
                  <a:pt x="3580977"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2390117" y="3295336"/>
            <a:ext cx="13507765" cy="5434330"/>
          </a:xfrm>
          <a:prstGeom prst="rect">
            <a:avLst/>
          </a:prstGeom>
        </p:spPr>
        <p:txBody>
          <a:bodyPr anchor="t" rtlCol="false" tIns="0" lIns="0" bIns="0" rIns="0">
            <a:spAutoFit/>
          </a:bodyPr>
          <a:lstStyle/>
          <a:p>
            <a:pPr algn="l">
              <a:lnSpc>
                <a:spcPts val="3919"/>
              </a:lnSpc>
            </a:pPr>
            <a:r>
              <a:rPr lang="en-US" sz="2799">
                <a:solidFill>
                  <a:srgbClr val="353534"/>
                </a:solidFill>
                <a:latin typeface="Merriweather"/>
                <a:ea typeface="Merriweather"/>
                <a:cs typeface="Merriweather"/>
                <a:sym typeface="Merriweather"/>
              </a:rPr>
              <a:t>Outro ponto importante é a automação de estilo. O Seaborn já aplica paletas de cores equilibradas, grids suaves e proporções visuais adequadas, reduzindo a necessidade de ajustes manuais. Ainda assim, ele permite personalização quando necessário, combinando praticidade com flexibilidade.</a:t>
            </a:r>
          </a:p>
          <a:p>
            <a:pPr algn="l">
              <a:lnSpc>
                <a:spcPts val="3919"/>
              </a:lnSpc>
            </a:pPr>
            <a:r>
              <a:rPr lang="en-US" sz="2799">
                <a:solidFill>
                  <a:srgbClr val="353534"/>
                </a:solidFill>
                <a:latin typeface="Merriweather"/>
                <a:ea typeface="Merriweather"/>
                <a:cs typeface="Merriweather"/>
                <a:sym typeface="Merriweather"/>
              </a:rPr>
              <a:t>Por</a:t>
            </a:r>
            <a:r>
              <a:rPr lang="en-US" sz="2799">
                <a:solidFill>
                  <a:srgbClr val="353534"/>
                </a:solidFill>
                <a:latin typeface="Merriweather"/>
                <a:ea typeface="Merriweather"/>
                <a:cs typeface="Merriweather"/>
                <a:sym typeface="Merriweather"/>
              </a:rPr>
              <a:t> fim, o Seaborn é especialmente útil na fase de análise exploratória de dados (EDA). Ele permite testar hipóteses visuais rapidamente, identificar tendências, detectar anomalias e compreender melhor o comportamento das variáveis. Em conjunto com o Matplotlib, ele se torna uma ferramenta essencial para qualquer profissional que trabalha com dados e precisa comunicar insights de forma clara e eficiente.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0EFE5"/>
        </a:solidFill>
      </p:bgPr>
    </p:bg>
    <p:spTree>
      <p:nvGrpSpPr>
        <p:cNvPr id="1" name=""/>
        <p:cNvGrpSpPr/>
        <p:nvPr/>
      </p:nvGrpSpPr>
      <p:grpSpPr>
        <a:xfrm>
          <a:off x="0" y="0"/>
          <a:ext cx="0" cy="0"/>
          <a:chOff x="0" y="0"/>
          <a:chExt cx="0" cy="0"/>
        </a:xfrm>
      </p:grpSpPr>
      <p:grpSp>
        <p:nvGrpSpPr>
          <p:cNvPr name="Group 2" id="2"/>
          <p:cNvGrpSpPr/>
          <p:nvPr/>
        </p:nvGrpSpPr>
        <p:grpSpPr>
          <a:xfrm rot="0">
            <a:off x="16197774" y="8764908"/>
            <a:ext cx="1061526" cy="3044184"/>
            <a:chOff x="0" y="0"/>
            <a:chExt cx="279579" cy="801760"/>
          </a:xfrm>
        </p:grpSpPr>
        <p:sp>
          <p:nvSpPr>
            <p:cNvPr name="Freeform 3" id="3"/>
            <p:cNvSpPr/>
            <p:nvPr/>
          </p:nvSpPr>
          <p:spPr>
            <a:xfrm flipH="false" flipV="false" rot="0">
              <a:off x="0" y="0"/>
              <a:ext cx="279579" cy="801760"/>
            </a:xfrm>
            <a:custGeom>
              <a:avLst/>
              <a:gdLst/>
              <a:ahLst/>
              <a:cxnLst/>
              <a:rect r="r" b="b" t="t" l="l"/>
              <a:pathLst>
                <a:path h="801760" w="279579">
                  <a:moveTo>
                    <a:pt x="139789" y="0"/>
                  </a:moveTo>
                  <a:lnTo>
                    <a:pt x="139789" y="0"/>
                  </a:lnTo>
                  <a:cubicBezTo>
                    <a:pt x="216993" y="0"/>
                    <a:pt x="279579" y="62586"/>
                    <a:pt x="279579" y="139789"/>
                  </a:cubicBezTo>
                  <a:lnTo>
                    <a:pt x="279579" y="661971"/>
                  </a:lnTo>
                  <a:cubicBezTo>
                    <a:pt x="279579" y="739175"/>
                    <a:pt x="216993" y="801760"/>
                    <a:pt x="139789" y="801760"/>
                  </a:cubicBezTo>
                  <a:lnTo>
                    <a:pt x="139789" y="801760"/>
                  </a:lnTo>
                  <a:cubicBezTo>
                    <a:pt x="62586" y="801760"/>
                    <a:pt x="0" y="739175"/>
                    <a:pt x="0" y="661971"/>
                  </a:cubicBezTo>
                  <a:lnTo>
                    <a:pt x="0" y="139789"/>
                  </a:lnTo>
                  <a:cubicBezTo>
                    <a:pt x="0" y="62586"/>
                    <a:pt x="62586" y="0"/>
                    <a:pt x="139789" y="0"/>
                  </a:cubicBezTo>
                  <a:close/>
                </a:path>
              </a:pathLst>
            </a:custGeom>
            <a:ln w="28575" cap="rnd">
              <a:solidFill>
                <a:srgbClr val="000000"/>
              </a:solidFill>
              <a:prstDash val="solid"/>
              <a:round/>
            </a:ln>
          </p:spPr>
        </p:sp>
        <p:sp>
          <p:nvSpPr>
            <p:cNvPr name="TextBox 4" id="4"/>
            <p:cNvSpPr txBox="true"/>
            <p:nvPr/>
          </p:nvSpPr>
          <p:spPr>
            <a:xfrm>
              <a:off x="0" y="-38100"/>
              <a:ext cx="279579" cy="83986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5400000">
            <a:off x="476287" y="550875"/>
            <a:ext cx="2726522" cy="2696778"/>
          </a:xfrm>
          <a:custGeom>
            <a:avLst/>
            <a:gdLst/>
            <a:ahLst/>
            <a:cxnLst/>
            <a:rect r="r" b="b" t="t" l="l"/>
            <a:pathLst>
              <a:path h="2696778" w="2726522">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6084888" y="9153907"/>
            <a:ext cx="1174412" cy="514296"/>
          </a:xfrm>
          <a:prstGeom prst="rect">
            <a:avLst/>
          </a:prstGeom>
        </p:spPr>
        <p:txBody>
          <a:bodyPr anchor="t" rtlCol="false" tIns="0" lIns="0" bIns="0" rIns="0">
            <a:spAutoFit/>
          </a:bodyPr>
          <a:lstStyle/>
          <a:p>
            <a:pPr algn="ctr">
              <a:lnSpc>
                <a:spcPts val="4200"/>
              </a:lnSpc>
              <a:spcBef>
                <a:spcPct val="0"/>
              </a:spcBef>
            </a:pPr>
            <a:r>
              <a:rPr lang="en-US" sz="3000">
                <a:solidFill>
                  <a:srgbClr val="353534"/>
                </a:solidFill>
                <a:latin typeface="Merriweather"/>
                <a:ea typeface="Merriweather"/>
                <a:cs typeface="Merriweather"/>
                <a:sym typeface="Merriweather"/>
              </a:rPr>
              <a:t>07</a:t>
            </a:r>
          </a:p>
        </p:txBody>
      </p:sp>
      <p:sp>
        <p:nvSpPr>
          <p:cNvPr name="Freeform 7" id="7"/>
          <p:cNvSpPr/>
          <p:nvPr/>
        </p:nvSpPr>
        <p:spPr>
          <a:xfrm flipH="false" flipV="false" rot="0">
            <a:off x="495705" y="9364617"/>
            <a:ext cx="3580978" cy="296130"/>
          </a:xfrm>
          <a:custGeom>
            <a:avLst/>
            <a:gdLst/>
            <a:ahLst/>
            <a:cxnLst/>
            <a:rect r="r" b="b" t="t" l="l"/>
            <a:pathLst>
              <a:path h="296130" w="3580978">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5400000">
            <a:off x="-1294784" y="7594275"/>
            <a:ext cx="3580978" cy="296130"/>
          </a:xfrm>
          <a:custGeom>
            <a:avLst/>
            <a:gdLst/>
            <a:ahLst/>
            <a:cxnLst/>
            <a:rect r="r" b="b" t="t" l="l"/>
            <a:pathLst>
              <a:path h="296130" w="3580978">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4754979" y="536003"/>
            <a:ext cx="2726522" cy="2696778"/>
          </a:xfrm>
          <a:custGeom>
            <a:avLst/>
            <a:gdLst/>
            <a:ahLst/>
            <a:cxnLst/>
            <a:rect r="r" b="b" t="t" l="l"/>
            <a:pathLst>
              <a:path h="2696778" w="2726522">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3952197" y="1481825"/>
            <a:ext cx="10383605" cy="1028700"/>
          </a:xfrm>
          <a:prstGeom prst="rect">
            <a:avLst/>
          </a:prstGeom>
        </p:spPr>
        <p:txBody>
          <a:bodyPr anchor="t" rtlCol="false" tIns="0" lIns="0" bIns="0" rIns="0">
            <a:spAutoFit/>
          </a:bodyPr>
          <a:lstStyle/>
          <a:p>
            <a:pPr algn="ctr">
              <a:lnSpc>
                <a:spcPts val="8400"/>
              </a:lnSpc>
              <a:spcBef>
                <a:spcPct val="0"/>
              </a:spcBef>
            </a:pPr>
            <a:r>
              <a:rPr lang="en-US" sz="6000">
                <a:solidFill>
                  <a:srgbClr val="353534"/>
                </a:solidFill>
                <a:latin typeface="Abril Fatface"/>
                <a:ea typeface="Abril Fatface"/>
                <a:cs typeface="Abril Fatface"/>
                <a:sym typeface="Abril Fatface"/>
              </a:rPr>
              <a:t>SEABORN</a:t>
            </a:r>
          </a:p>
        </p:txBody>
      </p:sp>
      <p:sp>
        <p:nvSpPr>
          <p:cNvPr name="Freeform 11" id="11"/>
          <p:cNvSpPr/>
          <p:nvPr/>
        </p:nvSpPr>
        <p:spPr>
          <a:xfrm flipH="false" flipV="false" rot="-10800000">
            <a:off x="12626322" y="9364617"/>
            <a:ext cx="3580978" cy="296130"/>
          </a:xfrm>
          <a:custGeom>
            <a:avLst/>
            <a:gdLst/>
            <a:ahLst/>
            <a:cxnLst/>
            <a:rect r="r" b="b" t="t" l="l"/>
            <a:pathLst>
              <a:path h="296130" w="3580978">
                <a:moveTo>
                  <a:pt x="0" y="0"/>
                </a:moveTo>
                <a:lnTo>
                  <a:pt x="3580977" y="0"/>
                </a:lnTo>
                <a:lnTo>
                  <a:pt x="3580977"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2649306" y="3206111"/>
            <a:ext cx="12989388" cy="5434330"/>
          </a:xfrm>
          <a:prstGeom prst="rect">
            <a:avLst/>
          </a:prstGeom>
        </p:spPr>
        <p:txBody>
          <a:bodyPr anchor="t" rtlCol="false" tIns="0" lIns="0" bIns="0" rIns="0">
            <a:spAutoFit/>
          </a:bodyPr>
          <a:lstStyle/>
          <a:p>
            <a:pPr algn="l">
              <a:lnSpc>
                <a:spcPts val="3920"/>
              </a:lnSpc>
            </a:pPr>
            <a:r>
              <a:rPr lang="en-US" sz="2800">
                <a:solidFill>
                  <a:srgbClr val="353534"/>
                </a:solidFill>
                <a:latin typeface="Merriweather"/>
                <a:ea typeface="Merriweather"/>
                <a:cs typeface="Merriweather"/>
                <a:sym typeface="Merriweather"/>
              </a:rPr>
              <a:t>O grande dife</a:t>
            </a:r>
            <a:r>
              <a:rPr lang="en-US" sz="2800">
                <a:solidFill>
                  <a:srgbClr val="353534"/>
                </a:solidFill>
                <a:latin typeface="Merriweather"/>
                <a:ea typeface="Merriweather"/>
                <a:cs typeface="Merriweather"/>
                <a:sym typeface="Merriweather"/>
              </a:rPr>
              <a:t>rencial do Seaborn está nos seus gráficos estatísticos. Esses gráficos não apenas mostram os dados, mas ajudam a interpretá-los, evidenciando padrões e relações de forma mais clara. Eles oferecem recursos como:</a:t>
            </a:r>
          </a:p>
          <a:p>
            <a:pPr algn="l" marL="604521" indent="-302261" lvl="1">
              <a:lnSpc>
                <a:spcPts val="3920"/>
              </a:lnSpc>
              <a:buFont typeface="Arial"/>
              <a:buChar char="•"/>
            </a:pPr>
            <a:r>
              <a:rPr lang="en-US" sz="2800">
                <a:solidFill>
                  <a:srgbClr val="353534"/>
                </a:solidFill>
                <a:latin typeface="Merriweather"/>
                <a:ea typeface="Merriweather"/>
                <a:cs typeface="Merriweather"/>
                <a:sym typeface="Merriweather"/>
              </a:rPr>
              <a:t>Boxplots, que mostram mediana, quartis e outliers</a:t>
            </a:r>
          </a:p>
          <a:p>
            <a:pPr algn="l" marL="604521" indent="-302261" lvl="1">
              <a:lnSpc>
                <a:spcPts val="3920"/>
              </a:lnSpc>
              <a:buFont typeface="Arial"/>
              <a:buChar char="•"/>
            </a:pPr>
            <a:r>
              <a:rPr lang="en-US" sz="2800">
                <a:solidFill>
                  <a:srgbClr val="353534"/>
                </a:solidFill>
                <a:latin typeface="Merriweather"/>
                <a:ea typeface="Merriweather"/>
                <a:cs typeface="Merriweather"/>
                <a:sym typeface="Merriweather"/>
              </a:rPr>
              <a:t>Violin plots, que revelam a distribuição completa dos dados</a:t>
            </a:r>
          </a:p>
          <a:p>
            <a:pPr algn="l" marL="604521" indent="-302261" lvl="1">
              <a:lnSpc>
                <a:spcPts val="3920"/>
              </a:lnSpc>
              <a:buFont typeface="Arial"/>
              <a:buChar char="•"/>
            </a:pPr>
            <a:r>
              <a:rPr lang="en-US" sz="2800">
                <a:solidFill>
                  <a:srgbClr val="353534"/>
                </a:solidFill>
                <a:latin typeface="Merriweather"/>
                <a:ea typeface="Merriweather"/>
                <a:cs typeface="Merriweather"/>
                <a:sym typeface="Merriweather"/>
              </a:rPr>
              <a:t>Histogramas e KDE, para análise de densidade</a:t>
            </a:r>
          </a:p>
          <a:p>
            <a:pPr algn="l" marL="604521" indent="-302261" lvl="1">
              <a:lnSpc>
                <a:spcPts val="3920"/>
              </a:lnSpc>
              <a:buFont typeface="Arial"/>
              <a:buChar char="•"/>
            </a:pPr>
            <a:r>
              <a:rPr lang="en-US" sz="2800">
                <a:solidFill>
                  <a:srgbClr val="353534"/>
                </a:solidFill>
                <a:latin typeface="Merriweather"/>
                <a:ea typeface="Merriweather"/>
                <a:cs typeface="Merriweather"/>
                <a:sym typeface="Merriweather"/>
              </a:rPr>
              <a:t>Heatmaps, muito usados para matrizes de correlação</a:t>
            </a:r>
          </a:p>
          <a:p>
            <a:pPr algn="l" marL="604521" indent="-302261" lvl="1">
              <a:lnSpc>
                <a:spcPts val="3920"/>
              </a:lnSpc>
              <a:buFont typeface="Arial"/>
              <a:buChar char="•"/>
            </a:pPr>
            <a:r>
              <a:rPr lang="en-US" sz="2800">
                <a:solidFill>
                  <a:srgbClr val="353534"/>
                </a:solidFill>
                <a:latin typeface="Merriweather"/>
                <a:ea typeface="Merriweather"/>
                <a:cs typeface="Merriweather"/>
                <a:sym typeface="Merriweather"/>
              </a:rPr>
              <a:t>Gráficos de regressão, que já incluem linha de tendência e intervalo de confiança</a:t>
            </a:r>
          </a:p>
          <a:p>
            <a:pPr algn="l">
              <a:lnSpc>
                <a:spcPts val="3920"/>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0EFE5"/>
        </a:solidFill>
      </p:bgPr>
    </p:bg>
    <p:spTree>
      <p:nvGrpSpPr>
        <p:cNvPr id="1" name=""/>
        <p:cNvGrpSpPr/>
        <p:nvPr/>
      </p:nvGrpSpPr>
      <p:grpSpPr>
        <a:xfrm>
          <a:off x="0" y="0"/>
          <a:ext cx="0" cy="0"/>
          <a:chOff x="0" y="0"/>
          <a:chExt cx="0" cy="0"/>
        </a:xfrm>
      </p:grpSpPr>
      <p:grpSp>
        <p:nvGrpSpPr>
          <p:cNvPr name="Group 2" id="2"/>
          <p:cNvGrpSpPr/>
          <p:nvPr/>
        </p:nvGrpSpPr>
        <p:grpSpPr>
          <a:xfrm rot="0">
            <a:off x="16197774" y="8764908"/>
            <a:ext cx="1061526" cy="3044184"/>
            <a:chOff x="0" y="0"/>
            <a:chExt cx="279579" cy="801760"/>
          </a:xfrm>
        </p:grpSpPr>
        <p:sp>
          <p:nvSpPr>
            <p:cNvPr name="Freeform 3" id="3"/>
            <p:cNvSpPr/>
            <p:nvPr/>
          </p:nvSpPr>
          <p:spPr>
            <a:xfrm flipH="false" flipV="false" rot="0">
              <a:off x="0" y="0"/>
              <a:ext cx="279579" cy="801760"/>
            </a:xfrm>
            <a:custGeom>
              <a:avLst/>
              <a:gdLst/>
              <a:ahLst/>
              <a:cxnLst/>
              <a:rect r="r" b="b" t="t" l="l"/>
              <a:pathLst>
                <a:path h="801760" w="279579">
                  <a:moveTo>
                    <a:pt x="139789" y="0"/>
                  </a:moveTo>
                  <a:lnTo>
                    <a:pt x="139789" y="0"/>
                  </a:lnTo>
                  <a:cubicBezTo>
                    <a:pt x="216993" y="0"/>
                    <a:pt x="279579" y="62586"/>
                    <a:pt x="279579" y="139789"/>
                  </a:cubicBezTo>
                  <a:lnTo>
                    <a:pt x="279579" y="661971"/>
                  </a:lnTo>
                  <a:cubicBezTo>
                    <a:pt x="279579" y="739175"/>
                    <a:pt x="216993" y="801760"/>
                    <a:pt x="139789" y="801760"/>
                  </a:cubicBezTo>
                  <a:lnTo>
                    <a:pt x="139789" y="801760"/>
                  </a:lnTo>
                  <a:cubicBezTo>
                    <a:pt x="62586" y="801760"/>
                    <a:pt x="0" y="739175"/>
                    <a:pt x="0" y="661971"/>
                  </a:cubicBezTo>
                  <a:lnTo>
                    <a:pt x="0" y="139789"/>
                  </a:lnTo>
                  <a:cubicBezTo>
                    <a:pt x="0" y="62586"/>
                    <a:pt x="62586" y="0"/>
                    <a:pt x="139789" y="0"/>
                  </a:cubicBezTo>
                  <a:close/>
                </a:path>
              </a:pathLst>
            </a:custGeom>
            <a:ln w="28575" cap="rnd">
              <a:solidFill>
                <a:srgbClr val="000000"/>
              </a:solidFill>
              <a:prstDash val="solid"/>
              <a:round/>
            </a:ln>
          </p:spPr>
        </p:sp>
        <p:sp>
          <p:nvSpPr>
            <p:cNvPr name="TextBox 4" id="4"/>
            <p:cNvSpPr txBox="true"/>
            <p:nvPr/>
          </p:nvSpPr>
          <p:spPr>
            <a:xfrm>
              <a:off x="0" y="-38100"/>
              <a:ext cx="279579" cy="83986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5400000">
            <a:off x="476287" y="550875"/>
            <a:ext cx="2726522" cy="2696778"/>
          </a:xfrm>
          <a:custGeom>
            <a:avLst/>
            <a:gdLst/>
            <a:ahLst/>
            <a:cxnLst/>
            <a:rect r="r" b="b" t="t" l="l"/>
            <a:pathLst>
              <a:path h="2696778" w="2726522">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6084888" y="9153907"/>
            <a:ext cx="1174412" cy="514296"/>
          </a:xfrm>
          <a:prstGeom prst="rect">
            <a:avLst/>
          </a:prstGeom>
        </p:spPr>
        <p:txBody>
          <a:bodyPr anchor="t" rtlCol="false" tIns="0" lIns="0" bIns="0" rIns="0">
            <a:spAutoFit/>
          </a:bodyPr>
          <a:lstStyle/>
          <a:p>
            <a:pPr algn="ctr">
              <a:lnSpc>
                <a:spcPts val="4200"/>
              </a:lnSpc>
              <a:spcBef>
                <a:spcPct val="0"/>
              </a:spcBef>
            </a:pPr>
            <a:r>
              <a:rPr lang="en-US" sz="3000">
                <a:solidFill>
                  <a:srgbClr val="353534"/>
                </a:solidFill>
                <a:latin typeface="Merriweather"/>
                <a:ea typeface="Merriweather"/>
                <a:cs typeface="Merriweather"/>
                <a:sym typeface="Merriweather"/>
              </a:rPr>
              <a:t>08</a:t>
            </a:r>
          </a:p>
        </p:txBody>
      </p:sp>
      <p:sp>
        <p:nvSpPr>
          <p:cNvPr name="Freeform 7" id="7"/>
          <p:cNvSpPr/>
          <p:nvPr/>
        </p:nvSpPr>
        <p:spPr>
          <a:xfrm flipH="false" flipV="false" rot="0">
            <a:off x="495705" y="9364617"/>
            <a:ext cx="3580978" cy="296130"/>
          </a:xfrm>
          <a:custGeom>
            <a:avLst/>
            <a:gdLst/>
            <a:ahLst/>
            <a:cxnLst/>
            <a:rect r="r" b="b" t="t" l="l"/>
            <a:pathLst>
              <a:path h="296130" w="3580978">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5400000">
            <a:off x="-1294784" y="7594275"/>
            <a:ext cx="3580978" cy="296130"/>
          </a:xfrm>
          <a:custGeom>
            <a:avLst/>
            <a:gdLst/>
            <a:ahLst/>
            <a:cxnLst/>
            <a:rect r="r" b="b" t="t" l="l"/>
            <a:pathLst>
              <a:path h="296130" w="3580978">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4754979" y="536003"/>
            <a:ext cx="2726522" cy="2696778"/>
          </a:xfrm>
          <a:custGeom>
            <a:avLst/>
            <a:gdLst/>
            <a:ahLst/>
            <a:cxnLst/>
            <a:rect r="r" b="b" t="t" l="l"/>
            <a:pathLst>
              <a:path h="2696778" w="2726522">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3952197" y="1481825"/>
            <a:ext cx="10383605" cy="1028700"/>
          </a:xfrm>
          <a:prstGeom prst="rect">
            <a:avLst/>
          </a:prstGeom>
        </p:spPr>
        <p:txBody>
          <a:bodyPr anchor="t" rtlCol="false" tIns="0" lIns="0" bIns="0" rIns="0">
            <a:spAutoFit/>
          </a:bodyPr>
          <a:lstStyle/>
          <a:p>
            <a:pPr algn="ctr">
              <a:lnSpc>
                <a:spcPts val="8400"/>
              </a:lnSpc>
              <a:spcBef>
                <a:spcPct val="0"/>
              </a:spcBef>
            </a:pPr>
            <a:r>
              <a:rPr lang="en-US" sz="6000">
                <a:solidFill>
                  <a:srgbClr val="353534"/>
                </a:solidFill>
                <a:latin typeface="Abril Fatface"/>
                <a:ea typeface="Abril Fatface"/>
                <a:cs typeface="Abril Fatface"/>
                <a:sym typeface="Abril Fatface"/>
              </a:rPr>
              <a:t>DESIGN DE INFORMAÇÃO</a:t>
            </a:r>
          </a:p>
        </p:txBody>
      </p:sp>
      <p:sp>
        <p:nvSpPr>
          <p:cNvPr name="Freeform 11" id="11"/>
          <p:cNvSpPr/>
          <p:nvPr/>
        </p:nvSpPr>
        <p:spPr>
          <a:xfrm flipH="false" flipV="false" rot="-10800000">
            <a:off x="12626322" y="9364617"/>
            <a:ext cx="3580978" cy="296130"/>
          </a:xfrm>
          <a:custGeom>
            <a:avLst/>
            <a:gdLst/>
            <a:ahLst/>
            <a:cxnLst/>
            <a:rect r="r" b="b" t="t" l="l"/>
            <a:pathLst>
              <a:path h="296130" w="3580978">
                <a:moveTo>
                  <a:pt x="0" y="0"/>
                </a:moveTo>
                <a:lnTo>
                  <a:pt x="3580977" y="0"/>
                </a:lnTo>
                <a:lnTo>
                  <a:pt x="3580977"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2649306" y="3391856"/>
            <a:ext cx="12989388" cy="4939030"/>
          </a:xfrm>
          <a:prstGeom prst="rect">
            <a:avLst/>
          </a:prstGeom>
        </p:spPr>
        <p:txBody>
          <a:bodyPr anchor="t" rtlCol="false" tIns="0" lIns="0" bIns="0" rIns="0">
            <a:spAutoFit/>
          </a:bodyPr>
          <a:lstStyle/>
          <a:p>
            <a:pPr algn="l">
              <a:lnSpc>
                <a:spcPts val="3920"/>
              </a:lnSpc>
            </a:pPr>
            <a:r>
              <a:rPr lang="en-US" sz="2800">
                <a:solidFill>
                  <a:srgbClr val="353534"/>
                </a:solidFill>
                <a:latin typeface="Merriweather"/>
                <a:ea typeface="Merriweather"/>
                <a:cs typeface="Merriweather"/>
                <a:sym typeface="Merriweather"/>
              </a:rPr>
              <a:t>O design de informação é um elemento fundamental na construção de gráficos</a:t>
            </a:r>
            <a:r>
              <a:rPr lang="en-US" sz="2800">
                <a:solidFill>
                  <a:srgbClr val="353534"/>
                </a:solidFill>
                <a:latin typeface="Merriweather"/>
                <a:ea typeface="Merriweather"/>
                <a:cs typeface="Merriweather"/>
                <a:sym typeface="Merriweather"/>
              </a:rPr>
              <a:t> eficazes. Ele envolve não apenas a escolha do tipo de visualização, mas também a organização e apresentação dos dados de forma clara e estratégica. Um bom design garante que a mensagem seja compreendida rapidamente e sem ambiguidades.</a:t>
            </a:r>
          </a:p>
          <a:p>
            <a:pPr algn="l">
              <a:lnSpc>
                <a:spcPts val="3920"/>
              </a:lnSpc>
            </a:pPr>
            <a:r>
              <a:rPr lang="en-US" sz="2800">
                <a:solidFill>
                  <a:srgbClr val="353534"/>
                </a:solidFill>
                <a:latin typeface="Merriweather"/>
                <a:ea typeface="Merriweather"/>
                <a:cs typeface="Merriweather"/>
                <a:sym typeface="Merriweather"/>
              </a:rPr>
              <a:t>A escolha do gráfico ideal depende diretamente do tipo de dado e do objetivo da análise. Gráficos de barras são indicados para comparações, gráficos de linha para mostrar evolução ao longo do tempo e gráficos de dispersão para identificar relações entre variáveis. Utilizar o tipo correto de gráfico evita interpretações equivocadas e melhora a comunicação.</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0EFE5"/>
        </a:solidFill>
      </p:bgPr>
    </p:bg>
    <p:spTree>
      <p:nvGrpSpPr>
        <p:cNvPr id="1" name=""/>
        <p:cNvGrpSpPr/>
        <p:nvPr/>
      </p:nvGrpSpPr>
      <p:grpSpPr>
        <a:xfrm>
          <a:off x="0" y="0"/>
          <a:ext cx="0" cy="0"/>
          <a:chOff x="0" y="0"/>
          <a:chExt cx="0" cy="0"/>
        </a:xfrm>
      </p:grpSpPr>
      <p:grpSp>
        <p:nvGrpSpPr>
          <p:cNvPr name="Group 2" id="2"/>
          <p:cNvGrpSpPr/>
          <p:nvPr/>
        </p:nvGrpSpPr>
        <p:grpSpPr>
          <a:xfrm rot="0">
            <a:off x="16197774" y="8764908"/>
            <a:ext cx="1061526" cy="3044184"/>
            <a:chOff x="0" y="0"/>
            <a:chExt cx="279579" cy="801760"/>
          </a:xfrm>
        </p:grpSpPr>
        <p:sp>
          <p:nvSpPr>
            <p:cNvPr name="Freeform 3" id="3"/>
            <p:cNvSpPr/>
            <p:nvPr/>
          </p:nvSpPr>
          <p:spPr>
            <a:xfrm flipH="false" flipV="false" rot="0">
              <a:off x="0" y="0"/>
              <a:ext cx="279579" cy="801760"/>
            </a:xfrm>
            <a:custGeom>
              <a:avLst/>
              <a:gdLst/>
              <a:ahLst/>
              <a:cxnLst/>
              <a:rect r="r" b="b" t="t" l="l"/>
              <a:pathLst>
                <a:path h="801760" w="279579">
                  <a:moveTo>
                    <a:pt x="139789" y="0"/>
                  </a:moveTo>
                  <a:lnTo>
                    <a:pt x="139789" y="0"/>
                  </a:lnTo>
                  <a:cubicBezTo>
                    <a:pt x="216993" y="0"/>
                    <a:pt x="279579" y="62586"/>
                    <a:pt x="279579" y="139789"/>
                  </a:cubicBezTo>
                  <a:lnTo>
                    <a:pt x="279579" y="661971"/>
                  </a:lnTo>
                  <a:cubicBezTo>
                    <a:pt x="279579" y="739175"/>
                    <a:pt x="216993" y="801760"/>
                    <a:pt x="139789" y="801760"/>
                  </a:cubicBezTo>
                  <a:lnTo>
                    <a:pt x="139789" y="801760"/>
                  </a:lnTo>
                  <a:cubicBezTo>
                    <a:pt x="62586" y="801760"/>
                    <a:pt x="0" y="739175"/>
                    <a:pt x="0" y="661971"/>
                  </a:cubicBezTo>
                  <a:lnTo>
                    <a:pt x="0" y="139789"/>
                  </a:lnTo>
                  <a:cubicBezTo>
                    <a:pt x="0" y="62586"/>
                    <a:pt x="62586" y="0"/>
                    <a:pt x="139789" y="0"/>
                  </a:cubicBezTo>
                  <a:close/>
                </a:path>
              </a:pathLst>
            </a:custGeom>
            <a:ln w="28575" cap="rnd">
              <a:solidFill>
                <a:srgbClr val="000000"/>
              </a:solidFill>
              <a:prstDash val="solid"/>
              <a:round/>
            </a:ln>
          </p:spPr>
        </p:sp>
        <p:sp>
          <p:nvSpPr>
            <p:cNvPr name="TextBox 4" id="4"/>
            <p:cNvSpPr txBox="true"/>
            <p:nvPr/>
          </p:nvSpPr>
          <p:spPr>
            <a:xfrm>
              <a:off x="0" y="-38100"/>
              <a:ext cx="279579" cy="83986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5400000">
            <a:off x="476287" y="550875"/>
            <a:ext cx="2726522" cy="2696778"/>
          </a:xfrm>
          <a:custGeom>
            <a:avLst/>
            <a:gdLst/>
            <a:ahLst/>
            <a:cxnLst/>
            <a:rect r="r" b="b" t="t" l="l"/>
            <a:pathLst>
              <a:path h="2696778" w="2726522">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6084888" y="9153907"/>
            <a:ext cx="1174412" cy="514296"/>
          </a:xfrm>
          <a:prstGeom prst="rect">
            <a:avLst/>
          </a:prstGeom>
        </p:spPr>
        <p:txBody>
          <a:bodyPr anchor="t" rtlCol="false" tIns="0" lIns="0" bIns="0" rIns="0">
            <a:spAutoFit/>
          </a:bodyPr>
          <a:lstStyle/>
          <a:p>
            <a:pPr algn="ctr">
              <a:lnSpc>
                <a:spcPts val="4200"/>
              </a:lnSpc>
              <a:spcBef>
                <a:spcPct val="0"/>
              </a:spcBef>
            </a:pPr>
            <a:r>
              <a:rPr lang="en-US" sz="3000">
                <a:solidFill>
                  <a:srgbClr val="353534"/>
                </a:solidFill>
                <a:latin typeface="Merriweather"/>
                <a:ea typeface="Merriweather"/>
                <a:cs typeface="Merriweather"/>
                <a:sym typeface="Merriweather"/>
              </a:rPr>
              <a:t>09</a:t>
            </a:r>
          </a:p>
        </p:txBody>
      </p:sp>
      <p:sp>
        <p:nvSpPr>
          <p:cNvPr name="Freeform 7" id="7"/>
          <p:cNvSpPr/>
          <p:nvPr/>
        </p:nvSpPr>
        <p:spPr>
          <a:xfrm flipH="false" flipV="false" rot="0">
            <a:off x="495705" y="9364617"/>
            <a:ext cx="3580978" cy="296130"/>
          </a:xfrm>
          <a:custGeom>
            <a:avLst/>
            <a:gdLst/>
            <a:ahLst/>
            <a:cxnLst/>
            <a:rect r="r" b="b" t="t" l="l"/>
            <a:pathLst>
              <a:path h="296130" w="3580978">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5400000">
            <a:off x="-1294784" y="7594275"/>
            <a:ext cx="3580978" cy="296130"/>
          </a:xfrm>
          <a:custGeom>
            <a:avLst/>
            <a:gdLst/>
            <a:ahLst/>
            <a:cxnLst/>
            <a:rect r="r" b="b" t="t" l="l"/>
            <a:pathLst>
              <a:path h="296130" w="3580978">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4754979" y="536003"/>
            <a:ext cx="2726522" cy="2696778"/>
          </a:xfrm>
          <a:custGeom>
            <a:avLst/>
            <a:gdLst/>
            <a:ahLst/>
            <a:cxnLst/>
            <a:rect r="r" b="b" t="t" l="l"/>
            <a:pathLst>
              <a:path h="2696778" w="2726522">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3952197" y="1481825"/>
            <a:ext cx="10383605" cy="1028700"/>
          </a:xfrm>
          <a:prstGeom prst="rect">
            <a:avLst/>
          </a:prstGeom>
        </p:spPr>
        <p:txBody>
          <a:bodyPr anchor="t" rtlCol="false" tIns="0" lIns="0" bIns="0" rIns="0">
            <a:spAutoFit/>
          </a:bodyPr>
          <a:lstStyle/>
          <a:p>
            <a:pPr algn="ctr">
              <a:lnSpc>
                <a:spcPts val="8400"/>
              </a:lnSpc>
              <a:spcBef>
                <a:spcPct val="0"/>
              </a:spcBef>
            </a:pPr>
            <a:r>
              <a:rPr lang="en-US" sz="6000">
                <a:solidFill>
                  <a:srgbClr val="353534"/>
                </a:solidFill>
                <a:latin typeface="Abril Fatface"/>
                <a:ea typeface="Abril Fatface"/>
                <a:cs typeface="Abril Fatface"/>
                <a:sym typeface="Abril Fatface"/>
              </a:rPr>
              <a:t>DESIGN DE INFORMAÇÃO</a:t>
            </a:r>
          </a:p>
        </p:txBody>
      </p:sp>
      <p:sp>
        <p:nvSpPr>
          <p:cNvPr name="Freeform 11" id="11"/>
          <p:cNvSpPr/>
          <p:nvPr/>
        </p:nvSpPr>
        <p:spPr>
          <a:xfrm flipH="false" flipV="false" rot="-10800000">
            <a:off x="12626322" y="9364617"/>
            <a:ext cx="3580978" cy="296130"/>
          </a:xfrm>
          <a:custGeom>
            <a:avLst/>
            <a:gdLst/>
            <a:ahLst/>
            <a:cxnLst/>
            <a:rect r="r" b="b" t="t" l="l"/>
            <a:pathLst>
              <a:path h="296130" w="3580978">
                <a:moveTo>
                  <a:pt x="0" y="0"/>
                </a:moveTo>
                <a:lnTo>
                  <a:pt x="3580977" y="0"/>
                </a:lnTo>
                <a:lnTo>
                  <a:pt x="3580977"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1632665" y="3547248"/>
            <a:ext cx="7025267" cy="5531485"/>
          </a:xfrm>
          <a:prstGeom prst="rect">
            <a:avLst/>
          </a:prstGeom>
        </p:spPr>
        <p:txBody>
          <a:bodyPr anchor="t" rtlCol="false" tIns="0" lIns="0" bIns="0" rIns="0">
            <a:spAutoFit/>
          </a:bodyPr>
          <a:lstStyle/>
          <a:p>
            <a:pPr algn="ctr">
              <a:lnSpc>
                <a:spcPts val="4759"/>
              </a:lnSpc>
            </a:pPr>
            <a:r>
              <a:rPr lang="en-US" sz="3399">
                <a:solidFill>
                  <a:srgbClr val="353534"/>
                </a:solidFill>
                <a:latin typeface="Merriweather"/>
                <a:ea typeface="Merriweather"/>
                <a:cs typeface="Merriweather"/>
                <a:sym typeface="Merriweather"/>
              </a:rPr>
              <a:t>Uso de Cores</a:t>
            </a:r>
          </a:p>
          <a:p>
            <a:pPr algn="just">
              <a:lnSpc>
                <a:spcPts val="3920"/>
              </a:lnSpc>
              <a:spcBef>
                <a:spcPct val="0"/>
              </a:spcBef>
            </a:pPr>
            <a:r>
              <a:rPr lang="en-US" sz="2800">
                <a:solidFill>
                  <a:srgbClr val="353534"/>
                </a:solidFill>
                <a:latin typeface="Merriweather"/>
                <a:ea typeface="Merriweather"/>
                <a:cs typeface="Merriweather"/>
                <a:sym typeface="Merriweather"/>
              </a:rPr>
              <a:t>C</a:t>
            </a:r>
            <a:r>
              <a:rPr lang="en-US" sz="2800">
                <a:solidFill>
                  <a:srgbClr val="353534"/>
                </a:solidFill>
                <a:latin typeface="Merriweather"/>
                <a:ea typeface="Merriweather"/>
                <a:cs typeface="Merriweather"/>
                <a:sym typeface="Merriweather"/>
              </a:rPr>
              <a:t>ores podem destacar informações importantes, mas, quando usadas em excesso, podem confundir o público. É importante manter uma paleta consistente e utilizar contrastes de forma estratégica para guiar a atenção do espectador. O SeaBorn possui automação de estilo, o que pode auxiliar a manter a coesão da estética do projeto.</a:t>
            </a:r>
          </a:p>
        </p:txBody>
      </p:sp>
      <p:sp>
        <p:nvSpPr>
          <p:cNvPr name="TextBox 13" id="13"/>
          <p:cNvSpPr txBox="true"/>
          <p:nvPr/>
        </p:nvSpPr>
        <p:spPr>
          <a:xfrm rot="0">
            <a:off x="9646827" y="3547248"/>
            <a:ext cx="7025267" cy="5531485"/>
          </a:xfrm>
          <a:prstGeom prst="rect">
            <a:avLst/>
          </a:prstGeom>
        </p:spPr>
        <p:txBody>
          <a:bodyPr anchor="t" rtlCol="false" tIns="0" lIns="0" bIns="0" rIns="0">
            <a:spAutoFit/>
          </a:bodyPr>
          <a:lstStyle/>
          <a:p>
            <a:pPr algn="ctr">
              <a:lnSpc>
                <a:spcPts val="4759"/>
              </a:lnSpc>
            </a:pPr>
            <a:r>
              <a:rPr lang="en-US" sz="3399">
                <a:solidFill>
                  <a:srgbClr val="353534"/>
                </a:solidFill>
                <a:latin typeface="Merriweather"/>
                <a:ea typeface="Merriweather"/>
                <a:cs typeface="Merriweather"/>
                <a:sym typeface="Merriweather"/>
              </a:rPr>
              <a:t>Hierarquia Visual</a:t>
            </a:r>
          </a:p>
          <a:p>
            <a:pPr algn="just">
              <a:lnSpc>
                <a:spcPts val="3920"/>
              </a:lnSpc>
              <a:spcBef>
                <a:spcPct val="0"/>
              </a:spcBef>
            </a:pPr>
            <a:r>
              <a:rPr lang="en-US" sz="2800">
                <a:solidFill>
                  <a:srgbClr val="353534"/>
                </a:solidFill>
                <a:latin typeface="Merriweather"/>
                <a:ea typeface="Merriweather"/>
                <a:cs typeface="Merriweather"/>
                <a:sym typeface="Merriweather"/>
              </a:rPr>
              <a:t>T</a:t>
            </a:r>
            <a:r>
              <a:rPr lang="en-US" sz="2800">
                <a:solidFill>
                  <a:srgbClr val="353534"/>
                </a:solidFill>
                <a:latin typeface="Merriweather"/>
                <a:ea typeface="Merriweather"/>
                <a:cs typeface="Merriweather"/>
                <a:sym typeface="Merriweather"/>
              </a:rPr>
              <a:t>amanho, posição e intensidade de cor ajudam a direcionar o olhar do público para as informações mais importantes. Bom design de informação não apenas apresenta dados, mas orienta a forma como eles são interpretados. Tanto o SeaBorn quanto o MatPlotLib possuem elementos nativos referentes à personalização de parâmetros relevantes.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0EFE5"/>
        </a:solidFill>
      </p:bgPr>
    </p:bg>
    <p:spTree>
      <p:nvGrpSpPr>
        <p:cNvPr id="1" name=""/>
        <p:cNvGrpSpPr/>
        <p:nvPr/>
      </p:nvGrpSpPr>
      <p:grpSpPr>
        <a:xfrm>
          <a:off x="0" y="0"/>
          <a:ext cx="0" cy="0"/>
          <a:chOff x="0" y="0"/>
          <a:chExt cx="0" cy="0"/>
        </a:xfrm>
      </p:grpSpPr>
      <p:grpSp>
        <p:nvGrpSpPr>
          <p:cNvPr name="Group 2" id="2"/>
          <p:cNvGrpSpPr/>
          <p:nvPr/>
        </p:nvGrpSpPr>
        <p:grpSpPr>
          <a:xfrm rot="0">
            <a:off x="16197774" y="8764908"/>
            <a:ext cx="1061526" cy="3044184"/>
            <a:chOff x="0" y="0"/>
            <a:chExt cx="279579" cy="801760"/>
          </a:xfrm>
        </p:grpSpPr>
        <p:sp>
          <p:nvSpPr>
            <p:cNvPr name="Freeform 3" id="3"/>
            <p:cNvSpPr/>
            <p:nvPr/>
          </p:nvSpPr>
          <p:spPr>
            <a:xfrm flipH="false" flipV="false" rot="0">
              <a:off x="0" y="0"/>
              <a:ext cx="279579" cy="801760"/>
            </a:xfrm>
            <a:custGeom>
              <a:avLst/>
              <a:gdLst/>
              <a:ahLst/>
              <a:cxnLst/>
              <a:rect r="r" b="b" t="t" l="l"/>
              <a:pathLst>
                <a:path h="801760" w="279579">
                  <a:moveTo>
                    <a:pt x="139789" y="0"/>
                  </a:moveTo>
                  <a:lnTo>
                    <a:pt x="139789" y="0"/>
                  </a:lnTo>
                  <a:cubicBezTo>
                    <a:pt x="216993" y="0"/>
                    <a:pt x="279579" y="62586"/>
                    <a:pt x="279579" y="139789"/>
                  </a:cubicBezTo>
                  <a:lnTo>
                    <a:pt x="279579" y="661971"/>
                  </a:lnTo>
                  <a:cubicBezTo>
                    <a:pt x="279579" y="739175"/>
                    <a:pt x="216993" y="801760"/>
                    <a:pt x="139789" y="801760"/>
                  </a:cubicBezTo>
                  <a:lnTo>
                    <a:pt x="139789" y="801760"/>
                  </a:lnTo>
                  <a:cubicBezTo>
                    <a:pt x="62586" y="801760"/>
                    <a:pt x="0" y="739175"/>
                    <a:pt x="0" y="661971"/>
                  </a:cubicBezTo>
                  <a:lnTo>
                    <a:pt x="0" y="139789"/>
                  </a:lnTo>
                  <a:cubicBezTo>
                    <a:pt x="0" y="62586"/>
                    <a:pt x="62586" y="0"/>
                    <a:pt x="139789" y="0"/>
                  </a:cubicBezTo>
                  <a:close/>
                </a:path>
              </a:pathLst>
            </a:custGeom>
            <a:ln w="28575" cap="rnd">
              <a:solidFill>
                <a:srgbClr val="000000"/>
              </a:solidFill>
              <a:prstDash val="solid"/>
              <a:round/>
            </a:ln>
          </p:spPr>
        </p:sp>
        <p:sp>
          <p:nvSpPr>
            <p:cNvPr name="TextBox 4" id="4"/>
            <p:cNvSpPr txBox="true"/>
            <p:nvPr/>
          </p:nvSpPr>
          <p:spPr>
            <a:xfrm>
              <a:off x="0" y="-38100"/>
              <a:ext cx="279579" cy="83986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5400000">
            <a:off x="476287" y="550875"/>
            <a:ext cx="2726522" cy="2696778"/>
          </a:xfrm>
          <a:custGeom>
            <a:avLst/>
            <a:gdLst/>
            <a:ahLst/>
            <a:cxnLst/>
            <a:rect r="r" b="b" t="t" l="l"/>
            <a:pathLst>
              <a:path h="2696778" w="2726522">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6084888" y="9153907"/>
            <a:ext cx="1174412" cy="514350"/>
          </a:xfrm>
          <a:prstGeom prst="rect">
            <a:avLst/>
          </a:prstGeom>
        </p:spPr>
        <p:txBody>
          <a:bodyPr anchor="t" rtlCol="false" tIns="0" lIns="0" bIns="0" rIns="0">
            <a:spAutoFit/>
          </a:bodyPr>
          <a:lstStyle/>
          <a:p>
            <a:pPr algn="ctr">
              <a:lnSpc>
                <a:spcPts val="4200"/>
              </a:lnSpc>
              <a:spcBef>
                <a:spcPct val="0"/>
              </a:spcBef>
            </a:pPr>
            <a:r>
              <a:rPr lang="en-US" sz="3000">
                <a:solidFill>
                  <a:srgbClr val="353534"/>
                </a:solidFill>
                <a:latin typeface="Merriweather"/>
                <a:ea typeface="Merriweather"/>
                <a:cs typeface="Merriweather"/>
                <a:sym typeface="Merriweather"/>
              </a:rPr>
              <a:t>10</a:t>
            </a:r>
          </a:p>
        </p:txBody>
      </p:sp>
      <p:sp>
        <p:nvSpPr>
          <p:cNvPr name="Freeform 7" id="7"/>
          <p:cNvSpPr/>
          <p:nvPr/>
        </p:nvSpPr>
        <p:spPr>
          <a:xfrm flipH="false" flipV="false" rot="0">
            <a:off x="495705" y="9364617"/>
            <a:ext cx="3580978" cy="296130"/>
          </a:xfrm>
          <a:custGeom>
            <a:avLst/>
            <a:gdLst/>
            <a:ahLst/>
            <a:cxnLst/>
            <a:rect r="r" b="b" t="t" l="l"/>
            <a:pathLst>
              <a:path h="296130" w="3580978">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5400000">
            <a:off x="-1294784" y="7594275"/>
            <a:ext cx="3580978" cy="296130"/>
          </a:xfrm>
          <a:custGeom>
            <a:avLst/>
            <a:gdLst/>
            <a:ahLst/>
            <a:cxnLst/>
            <a:rect r="r" b="b" t="t" l="l"/>
            <a:pathLst>
              <a:path h="296130" w="3580978">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4754979" y="536003"/>
            <a:ext cx="2726522" cy="2696778"/>
          </a:xfrm>
          <a:custGeom>
            <a:avLst/>
            <a:gdLst/>
            <a:ahLst/>
            <a:cxnLst/>
            <a:rect r="r" b="b" t="t" l="l"/>
            <a:pathLst>
              <a:path h="2696778" w="2726522">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3952197" y="1481825"/>
            <a:ext cx="10383605" cy="1028700"/>
          </a:xfrm>
          <a:prstGeom prst="rect">
            <a:avLst/>
          </a:prstGeom>
        </p:spPr>
        <p:txBody>
          <a:bodyPr anchor="t" rtlCol="false" tIns="0" lIns="0" bIns="0" rIns="0">
            <a:spAutoFit/>
          </a:bodyPr>
          <a:lstStyle/>
          <a:p>
            <a:pPr algn="ctr">
              <a:lnSpc>
                <a:spcPts val="8400"/>
              </a:lnSpc>
              <a:spcBef>
                <a:spcPct val="0"/>
              </a:spcBef>
            </a:pPr>
            <a:r>
              <a:rPr lang="en-US" sz="6000">
                <a:solidFill>
                  <a:srgbClr val="353534"/>
                </a:solidFill>
                <a:latin typeface="Abril Fatface"/>
                <a:ea typeface="Abril Fatface"/>
                <a:cs typeface="Abril Fatface"/>
                <a:sym typeface="Abril Fatface"/>
              </a:rPr>
              <a:t>BOAS PRÁTICAS</a:t>
            </a:r>
          </a:p>
        </p:txBody>
      </p:sp>
      <p:sp>
        <p:nvSpPr>
          <p:cNvPr name="Freeform 11" id="11"/>
          <p:cNvSpPr/>
          <p:nvPr/>
        </p:nvSpPr>
        <p:spPr>
          <a:xfrm flipH="false" flipV="false" rot="-10800000">
            <a:off x="12626322" y="9364617"/>
            <a:ext cx="3580978" cy="296130"/>
          </a:xfrm>
          <a:custGeom>
            <a:avLst/>
            <a:gdLst/>
            <a:ahLst/>
            <a:cxnLst/>
            <a:rect r="r" b="b" t="t" l="l"/>
            <a:pathLst>
              <a:path h="296130" w="3580978">
                <a:moveTo>
                  <a:pt x="0" y="0"/>
                </a:moveTo>
                <a:lnTo>
                  <a:pt x="3580977" y="0"/>
                </a:lnTo>
                <a:lnTo>
                  <a:pt x="3580977"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2649306" y="3391856"/>
            <a:ext cx="12989388" cy="4939030"/>
          </a:xfrm>
          <a:prstGeom prst="rect">
            <a:avLst/>
          </a:prstGeom>
        </p:spPr>
        <p:txBody>
          <a:bodyPr anchor="t" rtlCol="false" tIns="0" lIns="0" bIns="0" rIns="0">
            <a:spAutoFit/>
          </a:bodyPr>
          <a:lstStyle/>
          <a:p>
            <a:pPr algn="l">
              <a:lnSpc>
                <a:spcPts val="3920"/>
              </a:lnSpc>
            </a:pPr>
            <a:r>
              <a:rPr lang="en-US" sz="2800">
                <a:solidFill>
                  <a:srgbClr val="353534"/>
                </a:solidFill>
                <a:latin typeface="Merriweather"/>
                <a:ea typeface="Merriweather"/>
                <a:cs typeface="Merriweather"/>
                <a:sym typeface="Merriweather"/>
              </a:rPr>
              <a:t>Seguir boas práticas na criação de gráficos</a:t>
            </a:r>
            <a:r>
              <a:rPr lang="en-US" sz="2800">
                <a:solidFill>
                  <a:srgbClr val="353534"/>
                </a:solidFill>
                <a:latin typeface="Merriweather"/>
                <a:ea typeface="Merriweather"/>
                <a:cs typeface="Merriweather"/>
                <a:sym typeface="Merriweather"/>
              </a:rPr>
              <a:t> é essencial para garantir a qualidade e a credibilidade da análise. Um gráfico deve ser claro, objetivo e fácil de interpretar, permitindo que o público compreenda rapidamente a mensagem principal sem esforço excessivo. Simplicidade é um dos principais fatores de sucesso nesse processo.</a:t>
            </a:r>
          </a:p>
          <a:p>
            <a:pPr algn="l">
              <a:lnSpc>
                <a:spcPts val="3920"/>
              </a:lnSpc>
            </a:pPr>
            <a:r>
              <a:rPr lang="en-US" sz="2800">
                <a:solidFill>
                  <a:srgbClr val="353534"/>
                </a:solidFill>
                <a:latin typeface="Merriweather"/>
                <a:ea typeface="Merriweather"/>
                <a:cs typeface="Merriweather"/>
                <a:sym typeface="Merriweather"/>
              </a:rPr>
              <a:t>Uma recomendação importante é focar em uma única mensagem por gráfico. Tentar apresentar muitas informações ao mesmo tempo pode gerar confusão e dificultar a interpretação. Separar os dados em diferentes visualizações, quando necessário, ajuda a manter a clareza e a organização.</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0EFE5"/>
        </a:solidFill>
      </p:bgPr>
    </p:bg>
    <p:spTree>
      <p:nvGrpSpPr>
        <p:cNvPr id="1" name=""/>
        <p:cNvGrpSpPr/>
        <p:nvPr/>
      </p:nvGrpSpPr>
      <p:grpSpPr>
        <a:xfrm>
          <a:off x="0" y="0"/>
          <a:ext cx="0" cy="0"/>
          <a:chOff x="0" y="0"/>
          <a:chExt cx="0" cy="0"/>
        </a:xfrm>
      </p:grpSpPr>
      <p:grpSp>
        <p:nvGrpSpPr>
          <p:cNvPr name="Group 2" id="2"/>
          <p:cNvGrpSpPr/>
          <p:nvPr/>
        </p:nvGrpSpPr>
        <p:grpSpPr>
          <a:xfrm rot="0">
            <a:off x="16197774" y="8764908"/>
            <a:ext cx="1061526" cy="3044184"/>
            <a:chOff x="0" y="0"/>
            <a:chExt cx="279579" cy="801760"/>
          </a:xfrm>
        </p:grpSpPr>
        <p:sp>
          <p:nvSpPr>
            <p:cNvPr name="Freeform 3" id="3"/>
            <p:cNvSpPr/>
            <p:nvPr/>
          </p:nvSpPr>
          <p:spPr>
            <a:xfrm flipH="false" flipV="false" rot="0">
              <a:off x="0" y="0"/>
              <a:ext cx="279579" cy="801760"/>
            </a:xfrm>
            <a:custGeom>
              <a:avLst/>
              <a:gdLst/>
              <a:ahLst/>
              <a:cxnLst/>
              <a:rect r="r" b="b" t="t" l="l"/>
              <a:pathLst>
                <a:path h="801760" w="279579">
                  <a:moveTo>
                    <a:pt x="139789" y="0"/>
                  </a:moveTo>
                  <a:lnTo>
                    <a:pt x="139789" y="0"/>
                  </a:lnTo>
                  <a:cubicBezTo>
                    <a:pt x="216993" y="0"/>
                    <a:pt x="279579" y="62586"/>
                    <a:pt x="279579" y="139789"/>
                  </a:cubicBezTo>
                  <a:lnTo>
                    <a:pt x="279579" y="661971"/>
                  </a:lnTo>
                  <a:cubicBezTo>
                    <a:pt x="279579" y="739175"/>
                    <a:pt x="216993" y="801760"/>
                    <a:pt x="139789" y="801760"/>
                  </a:cubicBezTo>
                  <a:lnTo>
                    <a:pt x="139789" y="801760"/>
                  </a:lnTo>
                  <a:cubicBezTo>
                    <a:pt x="62586" y="801760"/>
                    <a:pt x="0" y="739175"/>
                    <a:pt x="0" y="661971"/>
                  </a:cubicBezTo>
                  <a:lnTo>
                    <a:pt x="0" y="139789"/>
                  </a:lnTo>
                  <a:cubicBezTo>
                    <a:pt x="0" y="62586"/>
                    <a:pt x="62586" y="0"/>
                    <a:pt x="139789" y="0"/>
                  </a:cubicBezTo>
                  <a:close/>
                </a:path>
              </a:pathLst>
            </a:custGeom>
            <a:ln w="28575" cap="rnd">
              <a:solidFill>
                <a:srgbClr val="000000"/>
              </a:solidFill>
              <a:prstDash val="solid"/>
              <a:round/>
            </a:ln>
          </p:spPr>
        </p:sp>
        <p:sp>
          <p:nvSpPr>
            <p:cNvPr name="TextBox 4" id="4"/>
            <p:cNvSpPr txBox="true"/>
            <p:nvPr/>
          </p:nvSpPr>
          <p:spPr>
            <a:xfrm>
              <a:off x="0" y="-38100"/>
              <a:ext cx="279579" cy="83986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5400000">
            <a:off x="476287" y="550875"/>
            <a:ext cx="2726522" cy="2696778"/>
          </a:xfrm>
          <a:custGeom>
            <a:avLst/>
            <a:gdLst/>
            <a:ahLst/>
            <a:cxnLst/>
            <a:rect r="r" b="b" t="t" l="l"/>
            <a:pathLst>
              <a:path h="2696778" w="2726522">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6084888" y="9153907"/>
            <a:ext cx="1174412" cy="514350"/>
          </a:xfrm>
          <a:prstGeom prst="rect">
            <a:avLst/>
          </a:prstGeom>
        </p:spPr>
        <p:txBody>
          <a:bodyPr anchor="t" rtlCol="false" tIns="0" lIns="0" bIns="0" rIns="0">
            <a:spAutoFit/>
          </a:bodyPr>
          <a:lstStyle/>
          <a:p>
            <a:pPr algn="ctr">
              <a:lnSpc>
                <a:spcPts val="4200"/>
              </a:lnSpc>
              <a:spcBef>
                <a:spcPct val="0"/>
              </a:spcBef>
            </a:pPr>
            <a:r>
              <a:rPr lang="en-US" sz="3000">
                <a:solidFill>
                  <a:srgbClr val="353534"/>
                </a:solidFill>
                <a:latin typeface="Merriweather"/>
                <a:ea typeface="Merriweather"/>
                <a:cs typeface="Merriweather"/>
                <a:sym typeface="Merriweather"/>
              </a:rPr>
              <a:t>11</a:t>
            </a:r>
          </a:p>
        </p:txBody>
      </p:sp>
      <p:sp>
        <p:nvSpPr>
          <p:cNvPr name="Freeform 7" id="7"/>
          <p:cNvSpPr/>
          <p:nvPr/>
        </p:nvSpPr>
        <p:spPr>
          <a:xfrm flipH="false" flipV="false" rot="0">
            <a:off x="495705" y="9364617"/>
            <a:ext cx="3580978" cy="296130"/>
          </a:xfrm>
          <a:custGeom>
            <a:avLst/>
            <a:gdLst/>
            <a:ahLst/>
            <a:cxnLst/>
            <a:rect r="r" b="b" t="t" l="l"/>
            <a:pathLst>
              <a:path h="296130" w="3580978">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5400000">
            <a:off x="-1294784" y="7594275"/>
            <a:ext cx="3580978" cy="296130"/>
          </a:xfrm>
          <a:custGeom>
            <a:avLst/>
            <a:gdLst/>
            <a:ahLst/>
            <a:cxnLst/>
            <a:rect r="r" b="b" t="t" l="l"/>
            <a:pathLst>
              <a:path h="296130" w="3580978">
                <a:moveTo>
                  <a:pt x="0" y="0"/>
                </a:moveTo>
                <a:lnTo>
                  <a:pt x="3580978" y="0"/>
                </a:lnTo>
                <a:lnTo>
                  <a:pt x="3580978"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4754979" y="536003"/>
            <a:ext cx="2726522" cy="2696778"/>
          </a:xfrm>
          <a:custGeom>
            <a:avLst/>
            <a:gdLst/>
            <a:ahLst/>
            <a:cxnLst/>
            <a:rect r="r" b="b" t="t" l="l"/>
            <a:pathLst>
              <a:path h="2696778" w="2726522">
                <a:moveTo>
                  <a:pt x="0" y="0"/>
                </a:moveTo>
                <a:lnTo>
                  <a:pt x="2726522" y="0"/>
                </a:lnTo>
                <a:lnTo>
                  <a:pt x="2726522" y="2696778"/>
                </a:lnTo>
                <a:lnTo>
                  <a:pt x="0" y="26967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3952197" y="1481825"/>
            <a:ext cx="10383605" cy="1028700"/>
          </a:xfrm>
          <a:prstGeom prst="rect">
            <a:avLst/>
          </a:prstGeom>
        </p:spPr>
        <p:txBody>
          <a:bodyPr anchor="t" rtlCol="false" tIns="0" lIns="0" bIns="0" rIns="0">
            <a:spAutoFit/>
          </a:bodyPr>
          <a:lstStyle/>
          <a:p>
            <a:pPr algn="ctr">
              <a:lnSpc>
                <a:spcPts val="8400"/>
              </a:lnSpc>
              <a:spcBef>
                <a:spcPct val="0"/>
              </a:spcBef>
            </a:pPr>
            <a:r>
              <a:rPr lang="en-US" sz="6000">
                <a:solidFill>
                  <a:srgbClr val="353534"/>
                </a:solidFill>
                <a:latin typeface="Abril Fatface"/>
                <a:ea typeface="Abril Fatface"/>
                <a:cs typeface="Abril Fatface"/>
                <a:sym typeface="Abril Fatface"/>
              </a:rPr>
              <a:t>BOAS PRÁTICAS</a:t>
            </a:r>
          </a:p>
        </p:txBody>
      </p:sp>
      <p:sp>
        <p:nvSpPr>
          <p:cNvPr name="Freeform 11" id="11"/>
          <p:cNvSpPr/>
          <p:nvPr/>
        </p:nvSpPr>
        <p:spPr>
          <a:xfrm flipH="false" flipV="false" rot="-10800000">
            <a:off x="12626322" y="9364617"/>
            <a:ext cx="3580978" cy="296130"/>
          </a:xfrm>
          <a:custGeom>
            <a:avLst/>
            <a:gdLst/>
            <a:ahLst/>
            <a:cxnLst/>
            <a:rect r="r" b="b" t="t" l="l"/>
            <a:pathLst>
              <a:path h="296130" w="3580978">
                <a:moveTo>
                  <a:pt x="0" y="0"/>
                </a:moveTo>
                <a:lnTo>
                  <a:pt x="3580977" y="0"/>
                </a:lnTo>
                <a:lnTo>
                  <a:pt x="3580977" y="296130"/>
                </a:lnTo>
                <a:lnTo>
                  <a:pt x="0" y="296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2649306" y="3334706"/>
            <a:ext cx="12989388" cy="5469890"/>
          </a:xfrm>
          <a:prstGeom prst="rect">
            <a:avLst/>
          </a:prstGeom>
        </p:spPr>
        <p:txBody>
          <a:bodyPr anchor="t" rtlCol="false" tIns="0" lIns="0" bIns="0" rIns="0">
            <a:spAutoFit/>
          </a:bodyPr>
          <a:lstStyle/>
          <a:p>
            <a:pPr algn="ctr">
              <a:lnSpc>
                <a:spcPts val="4200"/>
              </a:lnSpc>
            </a:pPr>
            <a:r>
              <a:rPr lang="en-US" sz="3000">
                <a:solidFill>
                  <a:srgbClr val="353534"/>
                </a:solidFill>
                <a:latin typeface="Merriweather"/>
                <a:ea typeface="Merriweather"/>
                <a:cs typeface="Merriweather"/>
                <a:sym typeface="Merriweather"/>
              </a:rPr>
              <a:t>Honestidade na Visualização</a:t>
            </a:r>
          </a:p>
          <a:p>
            <a:pPr algn="l">
              <a:lnSpc>
                <a:spcPts val="3920"/>
              </a:lnSpc>
            </a:pPr>
            <a:r>
              <a:rPr lang="en-US" sz="2800">
                <a:solidFill>
                  <a:srgbClr val="353534"/>
                </a:solidFill>
                <a:latin typeface="Merriweather"/>
                <a:ea typeface="Merriweather"/>
                <a:cs typeface="Merriweather"/>
                <a:sym typeface="Merriweather"/>
              </a:rPr>
              <a:t>Sempre é fundamental evitar gráficos</a:t>
            </a:r>
            <a:r>
              <a:rPr lang="en-US" sz="2800">
                <a:solidFill>
                  <a:srgbClr val="353534"/>
                </a:solidFill>
                <a:latin typeface="Merriweather"/>
                <a:ea typeface="Merriweather"/>
                <a:cs typeface="Merriweather"/>
                <a:sym typeface="Merriweather"/>
              </a:rPr>
              <a:t> enganosos. Manipular escalas, omitir informações relevantes ou utilizar elementos visuais que distorcem a percepção dos dados pode levar a interpretações incorretas. A transparência deve ser sempre priorizada, garantindo que os dados sejam apresentados de forma honesta e precisa.</a:t>
            </a:r>
          </a:p>
          <a:p>
            <a:pPr algn="l">
              <a:lnSpc>
                <a:spcPts val="3920"/>
              </a:lnSpc>
            </a:pPr>
            <a:r>
              <a:rPr lang="en-US" sz="2800">
                <a:solidFill>
                  <a:srgbClr val="353534"/>
                </a:solidFill>
                <a:latin typeface="Merriweather"/>
                <a:ea typeface="Merriweather"/>
                <a:cs typeface="Merriweather"/>
                <a:sym typeface="Merriweather"/>
              </a:rPr>
              <a:t>Por fim, incluir contexto é indispensável. Informações como período analisado, fonte dos dados e descrição da amostra ajudam o público a entender melhor o que está sendo apresentado. Ao seguir essas boas práticas, é possível criar gráficos não apenas mais bonitos, mas também mais confiáveis e eficazes na comunicação.</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0EFE5"/>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664294" y="2906886"/>
            <a:ext cx="4740498" cy="392017"/>
          </a:xfrm>
          <a:custGeom>
            <a:avLst/>
            <a:gdLst/>
            <a:ahLst/>
            <a:cxnLst/>
            <a:rect r="r" b="b" t="t" l="l"/>
            <a:pathLst>
              <a:path h="392017" w="4740498">
                <a:moveTo>
                  <a:pt x="0" y="0"/>
                </a:moveTo>
                <a:lnTo>
                  <a:pt x="4740497" y="0"/>
                </a:lnTo>
                <a:lnTo>
                  <a:pt x="4740497" y="392017"/>
                </a:lnTo>
                <a:lnTo>
                  <a:pt x="0" y="3920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79284" y="536638"/>
            <a:ext cx="4740498" cy="392017"/>
          </a:xfrm>
          <a:custGeom>
            <a:avLst/>
            <a:gdLst/>
            <a:ahLst/>
            <a:cxnLst/>
            <a:rect r="r" b="b" t="t" l="l"/>
            <a:pathLst>
              <a:path h="392017" w="4740498">
                <a:moveTo>
                  <a:pt x="0" y="0"/>
                </a:moveTo>
                <a:lnTo>
                  <a:pt x="4740498" y="0"/>
                </a:lnTo>
                <a:lnTo>
                  <a:pt x="4740498" y="392016"/>
                </a:lnTo>
                <a:lnTo>
                  <a:pt x="0" y="3920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15269321" y="7123585"/>
            <a:ext cx="4740498" cy="392017"/>
          </a:xfrm>
          <a:custGeom>
            <a:avLst/>
            <a:gdLst/>
            <a:ahLst/>
            <a:cxnLst/>
            <a:rect r="r" b="b" t="t" l="l"/>
            <a:pathLst>
              <a:path h="392017" w="4740498">
                <a:moveTo>
                  <a:pt x="0" y="0"/>
                </a:moveTo>
                <a:lnTo>
                  <a:pt x="4740498" y="0"/>
                </a:lnTo>
                <a:lnTo>
                  <a:pt x="4740498" y="392017"/>
                </a:lnTo>
                <a:lnTo>
                  <a:pt x="0" y="3920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800000">
            <a:off x="12925742" y="9493834"/>
            <a:ext cx="4740498" cy="392017"/>
          </a:xfrm>
          <a:custGeom>
            <a:avLst/>
            <a:gdLst/>
            <a:ahLst/>
            <a:cxnLst/>
            <a:rect r="r" b="b" t="t" l="l"/>
            <a:pathLst>
              <a:path h="392017" w="4740498">
                <a:moveTo>
                  <a:pt x="0" y="0"/>
                </a:moveTo>
                <a:lnTo>
                  <a:pt x="4740498" y="0"/>
                </a:lnTo>
                <a:lnTo>
                  <a:pt x="4740498" y="392016"/>
                </a:lnTo>
                <a:lnTo>
                  <a:pt x="0" y="3920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4844934" y="732646"/>
            <a:ext cx="2767824" cy="2737630"/>
          </a:xfrm>
          <a:custGeom>
            <a:avLst/>
            <a:gdLst/>
            <a:ahLst/>
            <a:cxnLst/>
            <a:rect r="r" b="b" t="t" l="l"/>
            <a:pathLst>
              <a:path h="2737630" w="2767824">
                <a:moveTo>
                  <a:pt x="0" y="0"/>
                </a:moveTo>
                <a:lnTo>
                  <a:pt x="2767824" y="0"/>
                </a:lnTo>
                <a:lnTo>
                  <a:pt x="2767824" y="2737630"/>
                </a:lnTo>
                <a:lnTo>
                  <a:pt x="0" y="27376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0800000">
            <a:off x="644447" y="7027759"/>
            <a:ext cx="2753631" cy="2723591"/>
          </a:xfrm>
          <a:custGeom>
            <a:avLst/>
            <a:gdLst/>
            <a:ahLst/>
            <a:cxnLst/>
            <a:rect r="r" b="b" t="t" l="l"/>
            <a:pathLst>
              <a:path h="2723591" w="2753631">
                <a:moveTo>
                  <a:pt x="0" y="0"/>
                </a:moveTo>
                <a:lnTo>
                  <a:pt x="2753630" y="0"/>
                </a:lnTo>
                <a:lnTo>
                  <a:pt x="2753630" y="2723591"/>
                </a:lnTo>
                <a:lnTo>
                  <a:pt x="0" y="27235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2928678" y="3260726"/>
            <a:ext cx="12430645" cy="1882774"/>
          </a:xfrm>
          <a:prstGeom prst="rect">
            <a:avLst/>
          </a:prstGeom>
        </p:spPr>
        <p:txBody>
          <a:bodyPr anchor="t" rtlCol="false" tIns="0" lIns="0" bIns="0" rIns="0">
            <a:spAutoFit/>
          </a:bodyPr>
          <a:lstStyle/>
          <a:p>
            <a:pPr algn="ctr">
              <a:lnSpc>
                <a:spcPts val="15400"/>
              </a:lnSpc>
              <a:spcBef>
                <a:spcPct val="0"/>
              </a:spcBef>
            </a:pPr>
            <a:r>
              <a:rPr lang="en-US" sz="11000">
                <a:solidFill>
                  <a:srgbClr val="353534"/>
                </a:solidFill>
                <a:latin typeface="Abril Fatface"/>
                <a:ea typeface="Abril Fatface"/>
                <a:cs typeface="Abril Fatface"/>
                <a:sym typeface="Abril Fatface"/>
              </a:rPr>
              <a:t>FIM DO MÓDULO 2</a:t>
            </a:r>
          </a:p>
        </p:txBody>
      </p:sp>
      <p:sp>
        <p:nvSpPr>
          <p:cNvPr name="TextBox 9" id="9"/>
          <p:cNvSpPr txBox="true"/>
          <p:nvPr/>
        </p:nvSpPr>
        <p:spPr>
          <a:xfrm rot="0">
            <a:off x="4658970" y="5546106"/>
            <a:ext cx="8970060" cy="1562208"/>
          </a:xfrm>
          <a:prstGeom prst="rect">
            <a:avLst/>
          </a:prstGeom>
        </p:spPr>
        <p:txBody>
          <a:bodyPr anchor="t" rtlCol="false" tIns="0" lIns="0" bIns="0" rIns="0">
            <a:spAutoFit/>
          </a:bodyPr>
          <a:lstStyle/>
          <a:p>
            <a:pPr algn="ctr">
              <a:lnSpc>
                <a:spcPts val="6299"/>
              </a:lnSpc>
              <a:spcBef>
                <a:spcPct val="0"/>
              </a:spcBef>
            </a:pPr>
            <a:r>
              <a:rPr lang="en-US" sz="4500">
                <a:solidFill>
                  <a:srgbClr val="353534"/>
                </a:solidFill>
                <a:latin typeface="Merriweather"/>
                <a:ea typeface="Merriweather"/>
                <a:cs typeface="Merriweather"/>
                <a:sym typeface="Merriweather"/>
              </a:rPr>
              <a:t>Agora é a hora de fazer os exercícios!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DAHGLKQwcZo</dc:identifier>
  <dcterms:modified xsi:type="dcterms:W3CDTF">2011-08-01T06:04:30Z</dcterms:modified>
  <cp:revision>1</cp:revision>
  <dc:title>módulo 3</dc:title>
</cp:coreProperties>
</file>